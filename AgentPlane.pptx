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3F9633-7502-46CF-B602-C438112FBE3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8DA34C-F39A-48ED-9E2E-74AD92D9DC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78026A-60E6-4E75-89A5-59D2A20A79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B2AB93-1EE3-40A7-BCA2-C85053213E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55B555-E4CC-493C-B30F-10363C2DF0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65BF7-80EB-426E-B7EF-89F6B6687C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9F5B2D-B16F-4F72-9B78-EAE4D74F29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239B4B-CCEC-46D6-BD52-76B8E2A173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65CE83-B133-44CC-BF51-81C7F7E7C1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3D33E7-1521-49F2-B6BC-87DB0EAA08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EA46D1-4DD7-462E-9E5D-6EEED48013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8034B-6715-494D-BEAB-5124EDF25F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78CD89-C755-4231-8320-B4AE2E4412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9B2867-A0AB-4782-8FCA-3145DFF76B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2E0A28-C050-4B1C-90E2-B0DDB8553D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ED42B-C53C-4BD7-9FCD-49B33A6857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C48B4-AAEF-496A-9896-1EE7D62CF9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66740B-AEC4-477C-83FF-B69C02A2FA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2D1CD-7A1E-4C80-B597-7CE97E8B68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EA43F1-9512-45B6-8C60-0DDF1CE914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2F28A-0F98-4A44-B7C0-47DD1EF630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15FCA4-E1EF-4E95-80B0-A64BA2ACB9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05E199-741D-4A4F-862C-AC004241C2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E82A-2422-4EB3-82B8-4FE886EEEF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389E27-897F-469E-B7D1-944A3AE8B6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6DB82A-B1D1-4994-837E-588BBC4A04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2A3FDF-3A20-400C-8AB3-362C06F1FA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5C88D-B8A0-4424-BA7E-D51EAD5477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825F2C-3DE1-42AE-B023-2E80E7813B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189613-E6DF-4316-B2D6-1CD8ACA419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24D5F-16C4-4AFB-81C9-97A40FE22F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610341-244F-4E94-914D-3DEAED8F2E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CDB6F0-4331-4087-9ADD-04B8339379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070368-A402-4739-9E04-62F998C831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0642D-A8EB-4F31-A8DF-E36D0911BF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5592E-8C33-465B-933D-EE8FC88766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1094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6748200"/>
            <a:ext cx="12188520" cy="1094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371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499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AI </a:t>
            </a:r>
            <a:r>
              <a:rPr lang="en-US" sz="1400" b="1" u="none" spc="499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GATE</a:t>
            </a:r>
            <a:r>
              <a:rPr lang="en-US" sz="1400" b="1" u="none" spc="499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WAY 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78308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Pl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</a:t>
            </a: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</a:t>
            </a:r>
            <a:endParaRPr lang="en-IN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24612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secure,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observ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able AI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gatewa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y and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control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plane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betwee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n 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applica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tions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every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LLM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provide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r.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Guide: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Dr.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Kancha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na Devi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Membe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rs: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Afzal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Ahame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d A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(23BCE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1353)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Tharun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SDR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(23BCE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5075)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V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Janavee 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(23BCE</a:t>
            </a:r>
            <a:r>
              <a:rPr lang="en-US" sz="18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5064)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633400" y="4343400"/>
            <a:ext cx="1704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93080" y="4343400"/>
            <a:ext cx="1992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1264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CONTENT</a:t>
            </a: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Wha</a:t>
            </a: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t </a:t>
            </a: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we'll </a:t>
            </a: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cove</a:t>
            </a: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r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Five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sections —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from what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AgentPlan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 is, down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to the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guardrail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engine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ClickHouse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observabili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ty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internals.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548640" y="1737360"/>
            <a:ext cx="110638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777240" y="1737360"/>
            <a:ext cx="914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1783080" y="1883520"/>
            <a:ext cx="45360" cy="548280"/>
          </a:xfrm>
          <a:prstGeom prst="rect">
            <a:avLst/>
          </a:prstGeom>
          <a:solidFill>
            <a:srgbClr val="E4E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2011680" y="1810440"/>
            <a:ext cx="29257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Overvi</a:t>
            </a: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ew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029200" y="1737360"/>
            <a:ext cx="6400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What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AgentPlane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is, what it's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trying to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achieve,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how it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differs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from other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gateways.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548640" y="2688480"/>
            <a:ext cx="110638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77240" y="2688480"/>
            <a:ext cx="914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1783080" y="2834640"/>
            <a:ext cx="45360" cy="548280"/>
          </a:xfrm>
          <a:prstGeom prst="rect">
            <a:avLst/>
          </a:prstGeom>
          <a:solidFill>
            <a:srgbClr val="E4E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2011680" y="2761560"/>
            <a:ext cx="29257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System </a:t>
            </a: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29200" y="2688480"/>
            <a:ext cx="6400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Layered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architectur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e, the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request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pipeline,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package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map,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secrets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layer,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deploymen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 topology.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548640" y="3639240"/>
            <a:ext cx="110638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777240" y="3639240"/>
            <a:ext cx="914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1783080" y="3785760"/>
            <a:ext cx="45360" cy="548280"/>
          </a:xfrm>
          <a:prstGeom prst="rect">
            <a:avLst/>
          </a:prstGeom>
          <a:solidFill>
            <a:srgbClr val="E4E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2011680" y="3712320"/>
            <a:ext cx="29257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API </a:t>
            </a: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Provisi</a:t>
            </a: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oning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5029200" y="3639240"/>
            <a:ext cx="6400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Key design,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provisionin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authenticat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ion,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lifecycle &amp;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revocation,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the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endpoint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surface.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548640" y="4590360"/>
            <a:ext cx="110638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777240" y="4590360"/>
            <a:ext cx="914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1783080" y="4736520"/>
            <a:ext cx="45360" cy="548280"/>
          </a:xfrm>
          <a:prstGeom prst="rect">
            <a:avLst/>
          </a:prstGeom>
          <a:solidFill>
            <a:srgbClr val="E4E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2011680" y="4663440"/>
            <a:ext cx="29257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Guardr</a:t>
            </a: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ails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5029200" y="4590360"/>
            <a:ext cx="6400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33-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guardrail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enforceme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nt engine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— internal,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external,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function </a:t>
            </a: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tiers.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548640" y="5541120"/>
            <a:ext cx="110638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777240" y="5541120"/>
            <a:ext cx="914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6"/>
          <p:cNvSpPr/>
          <p:nvPr/>
        </p:nvSpPr>
        <p:spPr>
          <a:xfrm>
            <a:off x="1783080" y="5687640"/>
            <a:ext cx="45360" cy="548280"/>
          </a:xfrm>
          <a:prstGeom prst="rect">
            <a:avLst/>
          </a:prstGeom>
          <a:solidFill>
            <a:srgbClr val="E4E9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2011680" y="5614560"/>
            <a:ext cx="29257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ClickHouse Observability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5029200" y="5541120"/>
            <a:ext cx="6400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Schema, capture modes, cost estimation, analytics, and the resilience model.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Overview → System Design → API Provisioning → Guardrails → ClickHouse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7863840" y="9144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0" b="1" u="none" strike="noStrike">
                <a:solidFill>
                  <a:srgbClr val="1A2338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IN" sz="1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749880" y="2788920"/>
            <a:ext cx="123408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749880" y="30632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SECTION 01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749880" y="345636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Ov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er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vie</a:t>
            </a: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49880" y="47091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What AgentPlane is, the problem it solves, and how it sets itself apart from conventional AI gateways.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OVERVIEW · WHAT IT IS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 gateway between apps and LLMs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AgentPlane is middleware that every AI application talks to instead of calling providers directly.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548640" y="1645920"/>
            <a:ext cx="6674760" cy="448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777240" y="18288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201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In one sentence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777240" y="2148840"/>
            <a:ext cx="6309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i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AgentPlane is an AI Gateway — a middleware layer between AI applications and LLM providers.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777240" y="3063240"/>
            <a:ext cx="630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Instead of apps calling OpenAI, Anthropic, or Gemini directly, they call AgentPlane, which: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822960" y="3538800"/>
            <a:ext cx="310680" cy="310680"/>
          </a:xfrm>
          <a:prstGeom prst="ellipse">
            <a:avLst/>
          </a:prstGeom>
          <a:solidFill>
            <a:srgbClr val="E8E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822960" y="353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1261800" y="352044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Authenticates the caller's API key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822960" y="3977640"/>
            <a:ext cx="310680" cy="310680"/>
          </a:xfrm>
          <a:prstGeom prst="ellipse">
            <a:avLst/>
          </a:prstGeom>
          <a:solidFill>
            <a:srgbClr val="E8E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822960" y="397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1261800" y="395928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Runs configurable guardrails on input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822960" y="4416480"/>
            <a:ext cx="310680" cy="310680"/>
          </a:xfrm>
          <a:prstGeom prst="ellipse">
            <a:avLst/>
          </a:prstGeom>
          <a:solidFill>
            <a:srgbClr val="E8E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822960" y="4416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1261800" y="439812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Injects the upstream provider key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822960" y="4855320"/>
            <a:ext cx="310680" cy="310680"/>
          </a:xfrm>
          <a:prstGeom prst="ellipse">
            <a:avLst/>
          </a:prstGeom>
          <a:solidFill>
            <a:srgbClr val="E8E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822960" y="48553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1261800" y="483732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Forwards </a:t>
            </a: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chat/comp</a:t>
            </a: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letions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822960" y="5294520"/>
            <a:ext cx="310680" cy="310680"/>
          </a:xfrm>
          <a:prstGeom prst="ellipse">
            <a:avLst/>
          </a:prstGeom>
          <a:solidFill>
            <a:srgbClr val="E8E7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822960" y="52945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1261800" y="5276160"/>
            <a:ext cx="5851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Runs output guardrails &amp; returns the response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7498080" y="1645920"/>
            <a:ext cx="411444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7680960" y="182880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7827120" y="182880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Provider abstraction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7680960" y="2240280"/>
            <a:ext cx="3748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Only OpenAI-compatible chat/completions ships today. New providers plug in behind a Provider interface — Name() + Forward() — without touching handlers.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7498080" y="3977640"/>
            <a:ext cx="411444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7680960" y="41605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7827120" y="416052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Built in Go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7680960" y="4572000"/>
            <a:ext cx="37486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Single binary, layered packages, one responsibility each. Config, secrets, auth, guardrails, proxy and observability are isolated so any one layer can change independently.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2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Overview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3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OVERVIEW · MISSION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What AgentPlane is trying to achieve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From a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working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V0 proxy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to a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production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-grade AI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control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plane.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548640" y="1600200"/>
            <a:ext cx="3657240" cy="2102760"/>
          </a:xfrm>
          <a:prstGeom prst="rect">
            <a:avLst/>
          </a:prstGeom>
          <a:solidFill>
            <a:srgbClr val="DCF1E3"/>
          </a:solidFill>
          <a:ln w="12700">
            <a:solidFill>
              <a:srgbClr val="DCF1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777240" y="1783080"/>
            <a:ext cx="63720" cy="328680"/>
          </a:xfrm>
          <a:prstGeom prst="rect">
            <a:avLst/>
          </a:prstGeom>
          <a:solidFill>
            <a:srgbClr val="1580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923400" y="178308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V0 goals — shipped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777240" y="2194560"/>
            <a:ext cx="3291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Start an HTTP server (port 3001)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Accept POST /chat, read the body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Load the OpenAI key from config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Forward &amp; return the response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434840" y="1600200"/>
            <a:ext cx="3657240" cy="2102760"/>
          </a:xfrm>
          <a:prstGeom prst="rect">
            <a:avLst/>
          </a:prstGeom>
          <a:solidFill>
            <a:srgbClr val="E8E7FB"/>
          </a:solidFill>
          <a:ln w="12700">
            <a:solidFill>
              <a:srgbClr val="E8E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4663440" y="178308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4809600" y="178308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Now beyond V0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4663440" y="2194560"/>
            <a:ext cx="3291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API-key auth (users + keys in Postgres)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33-guardrail enforcement pipeline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Pluggable secrets (Vault / AWS / Azure)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ClickHouse observability + analytics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8321040" y="1600200"/>
            <a:ext cx="3291480" cy="2102760"/>
          </a:xfrm>
          <a:prstGeom prst="rect">
            <a:avLst/>
          </a:prstGeom>
          <a:solidFill>
            <a:srgbClr val="FCEFD9"/>
          </a:solidFill>
          <a:ln w="12700">
            <a:solidFill>
              <a:srgbClr val="FCEF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8549640" y="1783080"/>
            <a:ext cx="63720" cy="32868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8695800" y="178308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On the roadmap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8549640" y="2194560"/>
            <a:ext cx="2925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Rate limiting &amp; per-key quotas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Agent routing, provider selection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True end-to-end SSE streaming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548640" y="3931920"/>
            <a:ext cx="110638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777240" y="411480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923400" y="411480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The vision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9"/>
          <p:cNvSpPr/>
          <p:nvPr/>
        </p:nvSpPr>
        <p:spPr>
          <a:xfrm>
            <a:off x="777240" y="45262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i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One gateway — auth, policy, routing, and observability — across every provider, as a single control plane.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777240" y="4983480"/>
            <a:ext cx="10515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architecture is deliberately pipeline-shaped: every stage — authentication, rate limiting, logging, input guardrails, agent routing, provider selection, key injection, proxy, output guardrails — is an independent slot that can be inserted or replaced without touching the provider proxy. Each new capability drops into the pipeline rather than rewiring the gateway.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1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2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Overview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OVERVIEW · DIFFERENTIATION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How it differs from other gateways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Design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choices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that make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AgentPlan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 stand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apart —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not just a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pass-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through </a:t>
            </a: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proxy.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548640" y="160020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731520" y="17283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877680" y="17283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Structured API keys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31520" y="213048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ap_live_&lt;key_id&gt;_&lt;secret&gt;. key_id is non-sensitive (safe for logs &amp; audit); only SHA-256(secret + pepper) is stored. Indexed lookup, constant-time compare, multi-key rotation.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731520" y="34106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ap_live_7F92KD82_a81f…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4270320" y="160020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4453200" y="172836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4599360" y="17283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Vendor-neutral secrets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4453200" y="213048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One SecretStore interface across Vault (default), AWS, Azure, file, env, chain. Vault talks raw HTTP — no SDK lock-in. AppRole bootstrap included.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4453200" y="34106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SECRET_STORE=vault|aws|azure|env|file|chain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7992000" y="160020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8174880" y="17283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8321040" y="17283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33-guardrail engine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8174880" y="213048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Internal regex + external ML APIs (Lakera, OpenAI, NVIDIA…) + 22 composable functions. Per-direction sets, per-guardrail modes, fail-open or fail-closed.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8174880" y="341064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GUARDRAIL_&lt;NAME&gt;=enforce|warn|log_only|off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9"/>
          <p:cNvSpPr/>
          <p:nvPr/>
        </p:nvSpPr>
        <p:spPr>
          <a:xfrm>
            <a:off x="548640" y="401436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731520" y="414216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877680" y="41421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Optional, fail-open telemetry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731520" y="454464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ClickHouse traces, prompts, responses, usage &amp; guardrails — compressed, sampled, cost-estimated. Fire-and-forget: observability never blocks /chat.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731520" y="58248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CLICKHOUSE_HOST=… (optional)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4"/>
          <p:cNvSpPr/>
          <p:nvPr/>
        </p:nvSpPr>
        <p:spPr>
          <a:xfrm>
            <a:off x="4270320" y="401436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5"/>
          <p:cNvSpPr/>
          <p:nvPr/>
        </p:nvSpPr>
        <p:spPr>
          <a:xfrm>
            <a:off x="4453200" y="41421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6"/>
          <p:cNvSpPr/>
          <p:nvPr/>
        </p:nvSpPr>
        <p:spPr>
          <a:xfrm>
            <a:off x="4599360" y="41421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Single Go binary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7"/>
          <p:cNvSpPr/>
          <p:nvPr/>
        </p:nvSpPr>
        <p:spPr>
          <a:xfrm>
            <a:off x="4453200" y="454464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Strict single-responsibility packages. No service mesh. Change the provider → only proxy changes; change auth → only auth changes.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4453200" y="58248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cmd/server · internal/*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9"/>
          <p:cNvSpPr/>
          <p:nvPr/>
        </p:nvSpPr>
        <p:spPr>
          <a:xfrm>
            <a:off x="7992000" y="4014360"/>
            <a:ext cx="3657240" cy="221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0"/>
          <p:cNvSpPr/>
          <p:nvPr/>
        </p:nvSpPr>
        <p:spPr>
          <a:xfrm>
            <a:off x="8174880" y="414216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1"/>
          <p:cNvSpPr/>
          <p:nvPr/>
        </p:nvSpPr>
        <p:spPr>
          <a:xfrm>
            <a:off x="8321040" y="414216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Live control plane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2"/>
          <p:cNvSpPr/>
          <p:nvPr/>
        </p:nvSpPr>
        <p:spPr>
          <a:xfrm>
            <a:off x="8174880" y="4544640"/>
            <a:ext cx="3291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React UI streams the request pipeline over SSE, visualizes guardrail redactions before/after, and exposes per-user spend analytics.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3"/>
          <p:cNvSpPr/>
          <p:nvPr/>
        </p:nvSpPr>
        <p:spPr>
          <a:xfrm>
            <a:off x="8174880" y="58248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web/ — React + Vite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Overview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7863840" y="9144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0" b="1" u="none" strike="noStrike">
                <a:solidFill>
                  <a:srgbClr val="1A2338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IN" sz="1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749880" y="2788920"/>
            <a:ext cx="123408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749880" y="30632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SECTION 02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749880" y="345636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System Design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749880" y="47091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Layered architecture, the request pipeline, package map, the secrets layer, and the deployment topology.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SYSTEM DESIGN · ARCHITECTURE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Layered request pipeline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single POST /chat flows through auth, handler, guardrails, and proxy — with data stores on the side.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548640" y="157284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713160" y="157284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713160" y="189288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POST /chat · Bearer ap_live_…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3749040" y="2212560"/>
            <a:ext cx="360" cy="504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548640" y="226332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713160" y="226332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Middleware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713160" y="258336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parse key · verify · resolve user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3749040" y="2903040"/>
            <a:ext cx="360" cy="504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548640" y="295344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713160" y="295344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Chat Handler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713160" y="327348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method + JSON validation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5"/>
          <p:cNvSpPr/>
          <p:nvPr/>
        </p:nvSpPr>
        <p:spPr>
          <a:xfrm>
            <a:off x="3749040" y="3593520"/>
            <a:ext cx="360" cy="50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040" rIns="90000" bIns="50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548640" y="364392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713160" y="364392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 Guardrails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713160" y="396396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block / redact / warn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9"/>
          <p:cNvSpPr/>
          <p:nvPr/>
        </p:nvSpPr>
        <p:spPr>
          <a:xfrm>
            <a:off x="3749040" y="4283640"/>
            <a:ext cx="360" cy="504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548640" y="433440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713160" y="433440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Provider Proxy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713160" y="465444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inject key · forward to LLM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3"/>
          <p:cNvSpPr/>
          <p:nvPr/>
        </p:nvSpPr>
        <p:spPr>
          <a:xfrm>
            <a:off x="3749040" y="4974120"/>
            <a:ext cx="360" cy="504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4"/>
          <p:cNvSpPr/>
          <p:nvPr/>
        </p:nvSpPr>
        <p:spPr>
          <a:xfrm>
            <a:off x="548640" y="502452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713160" y="502452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Output Guardrails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713160" y="534456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block / redact / warn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7"/>
          <p:cNvSpPr/>
          <p:nvPr/>
        </p:nvSpPr>
        <p:spPr>
          <a:xfrm>
            <a:off x="3749040" y="5664600"/>
            <a:ext cx="360" cy="504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8"/>
          <p:cNvSpPr/>
          <p:nvPr/>
        </p:nvSpPr>
        <p:spPr>
          <a:xfrm>
            <a:off x="548640" y="5715000"/>
            <a:ext cx="6400440" cy="639720"/>
          </a:xfrm>
          <a:prstGeom prst="roundRect">
            <a:avLst>
              <a:gd name="adj" fmla="val 7143"/>
            </a:avLst>
          </a:prstGeom>
          <a:solidFill>
            <a:srgbClr val="0E9F8E"/>
          </a:solidFill>
          <a:ln w="12700">
            <a:solidFill>
              <a:srgbClr val="0E9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9"/>
          <p:cNvSpPr/>
          <p:nvPr/>
        </p:nvSpPr>
        <p:spPr>
          <a:xfrm>
            <a:off x="713160" y="5715000"/>
            <a:ext cx="6071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C1220"/>
                </a:solidFill>
                <a:effectLst/>
                <a:uFillTx/>
                <a:latin typeface="Calibri"/>
                <a:ea typeface="Calibri"/>
              </a:rPr>
              <a:t>Response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0"/>
          <p:cNvSpPr/>
          <p:nvPr/>
        </p:nvSpPr>
        <p:spPr>
          <a:xfrm>
            <a:off x="713160" y="6035040"/>
            <a:ext cx="6071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E5E56"/>
                </a:solidFill>
                <a:effectLst/>
                <a:uFillTx/>
                <a:latin typeface="Consolas"/>
                <a:ea typeface="Consolas"/>
              </a:rPr>
              <a:t>200 · possibly </a:t>
            </a:r>
            <a:r>
              <a:rPr lang="en-US" sz="750" b="0" u="none" strike="noStrike">
                <a:solidFill>
                  <a:srgbClr val="0E5E56"/>
                </a:solidFill>
                <a:effectLst/>
                <a:uFillTx/>
                <a:latin typeface="Consolas"/>
                <a:ea typeface="Consolas"/>
              </a:rPr>
              <a:t>redacted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1"/>
          <p:cNvSpPr/>
          <p:nvPr/>
        </p:nvSpPr>
        <p:spPr>
          <a:xfrm>
            <a:off x="7315200" y="1572840"/>
            <a:ext cx="4343040" cy="9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2"/>
          <p:cNvSpPr/>
          <p:nvPr/>
        </p:nvSpPr>
        <p:spPr>
          <a:xfrm>
            <a:off x="7315200" y="1572840"/>
            <a:ext cx="63720" cy="96876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3"/>
          <p:cNvSpPr/>
          <p:nvPr/>
        </p:nvSpPr>
        <p:spPr>
          <a:xfrm>
            <a:off x="7534800" y="166428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4"/>
          <p:cNvSpPr/>
          <p:nvPr/>
        </p:nvSpPr>
        <p:spPr>
          <a:xfrm>
            <a:off x="7534800" y="201168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users · api_keys (hash-only) · embedded migrations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5"/>
          <p:cNvSpPr/>
          <p:nvPr/>
        </p:nvSpPr>
        <p:spPr>
          <a:xfrm>
            <a:off x="7315200" y="2651760"/>
            <a:ext cx="4343040" cy="9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6"/>
          <p:cNvSpPr/>
          <p:nvPr/>
        </p:nvSpPr>
        <p:spPr>
          <a:xfrm>
            <a:off x="7315200" y="2651760"/>
            <a:ext cx="63720" cy="96876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7"/>
          <p:cNvSpPr/>
          <p:nvPr/>
        </p:nvSpPr>
        <p:spPr>
          <a:xfrm>
            <a:off x="7534800" y="274320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Secret Store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8"/>
          <p:cNvSpPr/>
          <p:nvPr/>
        </p:nvSpPr>
        <p:spPr>
          <a:xfrm>
            <a:off x="7534800" y="309060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Vault (default) · AWS · Azure · env · file · chain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9"/>
          <p:cNvSpPr/>
          <p:nvPr/>
        </p:nvSpPr>
        <p:spPr>
          <a:xfrm>
            <a:off x="7315200" y="3730680"/>
            <a:ext cx="4343040" cy="9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0"/>
          <p:cNvSpPr/>
          <p:nvPr/>
        </p:nvSpPr>
        <p:spPr>
          <a:xfrm>
            <a:off x="7315200" y="3730680"/>
            <a:ext cx="63720" cy="96876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1"/>
          <p:cNvSpPr/>
          <p:nvPr/>
        </p:nvSpPr>
        <p:spPr>
          <a:xfrm>
            <a:off x="7534800" y="382212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ClickHouse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2"/>
          <p:cNvSpPr/>
          <p:nvPr/>
        </p:nvSpPr>
        <p:spPr>
          <a:xfrm>
            <a:off x="7534800" y="416952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traces · prompts · responses · usage · guardrails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3"/>
          <p:cNvSpPr/>
          <p:nvPr/>
        </p:nvSpPr>
        <p:spPr>
          <a:xfrm>
            <a:off x="7315200" y="4809600"/>
            <a:ext cx="4343040" cy="9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4"/>
          <p:cNvSpPr/>
          <p:nvPr/>
        </p:nvSpPr>
        <p:spPr>
          <a:xfrm>
            <a:off x="7315200" y="4809600"/>
            <a:ext cx="63720" cy="96876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5"/>
          <p:cNvSpPr/>
          <p:nvPr/>
        </p:nvSpPr>
        <p:spPr>
          <a:xfrm>
            <a:off x="7534800" y="490104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Event Bus / SSE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6"/>
          <p:cNvSpPr/>
          <p:nvPr/>
        </p:nvSpPr>
        <p:spPr>
          <a:xfrm>
            <a:off x="7534800" y="524880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in-memory bus → /events · /dashboard · /metrics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7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8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System Design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9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SYSTEM DESIGN · PIPELINE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Request lifecycle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exact sequence — and what each failure produces — for a POST /chat.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0" name="Table 0"/>
          <p:cNvGraphicFramePr/>
          <p:nvPr/>
        </p:nvGraphicFramePr>
        <p:xfrm>
          <a:off x="548640" y="1600200"/>
          <a:ext cx="8595000" cy="312516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3017520"/>
                <a:gridCol w="137160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Step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Stage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Failure condition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1–3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Auth middleware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Missing / invalid / revoked key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401 Unauthorized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Validate HTTP method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POST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405 Method Not Allowed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 request body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Read failure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500 Internal Server Error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Validate JSON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Malformed body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400 Bad Request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Input guardrails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DecisionBlock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403 Forbidden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Input guardrails (Required)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Guardrail error (fail-closed)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503 Service Unavailable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Provider proxy Forward()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Key missing / network / non-200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502 Bad Gateway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 guardrails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DecisionBlock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403 Forbidden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 guardrails (Required)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Guardrail error (fail-closed)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503 Service Unavailable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16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Write response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Success (possibly redacted)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 OK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211" name="Shape 4"/>
          <p:cNvSpPr/>
          <p:nvPr/>
        </p:nvSpPr>
        <p:spPr>
          <a:xfrm>
            <a:off x="9418320" y="1600200"/>
            <a:ext cx="223992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9564480" y="17647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711000" y="176472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Timing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9564480" y="2194560"/>
            <a:ext cx="194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Startup: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Postgres pool, migrations, wire packages, mux.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Proxy: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60s HTTP client timeout.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Server: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 request timeout (Go default).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9418320" y="3886200"/>
            <a:ext cx="223992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9564480" y="40507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9711000" y="405072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Decisions → HTTP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9564480" y="4480560"/>
            <a:ext cx="194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Block → 403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Redact → 200 (modified)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Warn / LogOnly → 200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Required error → 503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System Design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SYSTEM DESIGN · CODE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Package map — single responsibility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Each package owns exactly one concern. Changing one should never force changes in another.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6" name="Table 0"/>
          <p:cNvGraphicFramePr/>
          <p:nvPr/>
        </p:nvGraphicFramePr>
        <p:xfrm>
          <a:off x="548640" y="1572840"/>
          <a:ext cx="11109600" cy="3537000"/>
        </p:xfrm>
        <a:graphic>
          <a:graphicData uri="http://schemas.openxmlformats.org/drawingml/2006/table">
            <a:tbl>
              <a:tblPr/>
              <a:tblGrid>
                <a:gridCol w="2926080"/>
                <a:gridCol w="818388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Package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Responsibility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cmd/server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Composition root — config, wiring, routes, start HTTP server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config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Configuration + secret-store selection (OpenAIKey, KeyPepper, …)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auth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API-key parse/verify, user resolution, admin-token middleware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handlers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HTTP concerns only — method, body, JSON, response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Policy enforcement pipeline (input + output) + providers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proxy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Provider communication, key injection, forwarding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API-key generation &amp; persistence (hashes only)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users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User persistence + validation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provisioning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Orchestrate user + key creation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db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Postgres pool + embedded migrations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secrets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Secret stores (Vault, AWS, Azure, env, file, chain)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observability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Event bus / SSE + ClickHouse store adapter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clickhouse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Native ClickHouse client (singleton, typed inserts)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dashboard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Embedded HTML dashboard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227" name="Text 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System Design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SYSTEM DESIGN · SECRETS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Pluggable secret store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Callers ask config.OpenAIKey() — they never know which backend serves the secret.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548640" y="1572840"/>
            <a:ext cx="4754520" cy="155412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822960" y="17830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interface SecretStore {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822960" y="2148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GetSecret(key) (string, error)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822960" y="25146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5486400" y="1572840"/>
            <a:ext cx="617184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5715000" y="171900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5861160" y="1719000"/>
            <a:ext cx="5577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Selection &amp; default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5715000" y="2121480"/>
            <a:ext cx="5760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Backend is chosen at startup from SECRET_STORE. When unset or unrecognized, the gateway falls back to HashiCorp Vault.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548640" y="331020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713160" y="342000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env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713160" y="378576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Read from environment variables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4270320" y="331020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4434840" y="342000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file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4434840" y="378576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Read files under SECRET_STORE_PATH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7992000" y="331020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8156520" y="342000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chain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8156520" y="378576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file → env, first success wins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548640" y="450792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713160" y="461772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vault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713160" y="498348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KV v1/v2 · token or 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AppRole · raw HTTP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4270320" y="450792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4434840" y="461772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aws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4434840" y="498348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AWS Secrets Manager (SDK, JSON key)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7992000" y="4507920"/>
            <a:ext cx="365724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8156520" y="4617720"/>
            <a:ext cx="332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azure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8156520" y="4983480"/>
            <a:ext cx="332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Azure Key Vault (DefaultAzureCredential)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0"/>
          <p:cNvSpPr/>
          <p:nvPr/>
        </p:nvSpPr>
        <p:spPr>
          <a:xfrm>
            <a:off x="548640" y="5623560"/>
            <a:ext cx="11109600" cy="658080"/>
          </a:xfrm>
          <a:prstGeom prst="rect">
            <a:avLst/>
          </a:prstGeom>
          <a:solidFill>
            <a:srgbClr val="FCEFD9"/>
          </a:solidFill>
          <a:ln w="12700">
            <a:solidFill>
              <a:srgbClr val="FCEF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777240" y="57333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Writes: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2"/>
          <p:cNvSpPr/>
          <p:nvPr/>
        </p:nvSpPr>
        <p:spPr>
          <a:xfrm>
            <a:off x="1691640" y="573336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SecretWriter (SetSecret) is implemented only by Vault — enabling POST /admin/secrets/provider to persist provider keys at runtime.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3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4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System Design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5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SYSTEM DESIGN · DEPLOY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Deployment topology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docker compose brings up Vault, PostgreSQL, ClickHouse, a mock LLM, and the gateway — with Vault AppRole bootstrap.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"/>
          <p:cNvSpPr/>
          <p:nvPr/>
        </p:nvSpPr>
        <p:spPr>
          <a:xfrm>
            <a:off x="548640" y="1600200"/>
            <a:ext cx="2121120" cy="914040"/>
          </a:xfrm>
          <a:prstGeom prst="roundRect">
            <a:avLst>
              <a:gd name="adj" fmla="val 600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640080" y="16916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vault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640080" y="205740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Vault 1.18 · :8202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7"/>
          <p:cNvSpPr/>
          <p:nvPr/>
        </p:nvSpPr>
        <p:spPr>
          <a:xfrm>
            <a:off x="2738520" y="1600200"/>
            <a:ext cx="2121120" cy="914040"/>
          </a:xfrm>
          <a:prstGeom prst="roundRect">
            <a:avLst>
              <a:gd name="adj" fmla="val 600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2829960" y="16916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vault-init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2829960" y="205740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AppRole bootstrap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4928760" y="1600200"/>
            <a:ext cx="2121120" cy="914040"/>
          </a:xfrm>
          <a:prstGeom prst="roundRect">
            <a:avLst>
              <a:gd name="adj" fmla="val 600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5020200" y="16916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postgres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2"/>
          <p:cNvSpPr/>
          <p:nvPr/>
        </p:nvSpPr>
        <p:spPr>
          <a:xfrm>
            <a:off x="5020200" y="205740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Postgres 16 · :5433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3"/>
          <p:cNvSpPr/>
          <p:nvPr/>
        </p:nvSpPr>
        <p:spPr>
          <a:xfrm>
            <a:off x="7118640" y="1600200"/>
            <a:ext cx="2121120" cy="914040"/>
          </a:xfrm>
          <a:prstGeom prst="roundRect">
            <a:avLst>
              <a:gd name="adj" fmla="val 600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4"/>
          <p:cNvSpPr/>
          <p:nvPr/>
        </p:nvSpPr>
        <p:spPr>
          <a:xfrm>
            <a:off x="7210080" y="16916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clickhouse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5"/>
          <p:cNvSpPr/>
          <p:nvPr/>
        </p:nvSpPr>
        <p:spPr>
          <a:xfrm>
            <a:off x="7210080" y="205740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· :8123/9000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6"/>
          <p:cNvSpPr/>
          <p:nvPr/>
        </p:nvSpPr>
        <p:spPr>
          <a:xfrm>
            <a:off x="9308520" y="1600200"/>
            <a:ext cx="2121120" cy="914040"/>
          </a:xfrm>
          <a:prstGeom prst="roundRect">
            <a:avLst>
              <a:gd name="adj" fmla="val 600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9399960" y="169164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mock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8"/>
          <p:cNvSpPr/>
          <p:nvPr/>
        </p:nvSpPr>
        <p:spPr>
          <a:xfrm>
            <a:off x="9399960" y="2057400"/>
            <a:ext cx="193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mock LLM · :3002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 flipV="1">
            <a:off x="6089760" y="2606040"/>
            <a:ext cx="360" cy="68580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0"/>
          <p:cNvSpPr/>
          <p:nvPr/>
        </p:nvSpPr>
        <p:spPr>
          <a:xfrm>
            <a:off x="3566160" y="3337560"/>
            <a:ext cx="5028840" cy="1279800"/>
          </a:xfrm>
          <a:prstGeom prst="roundRect">
            <a:avLst>
              <a:gd name="adj" fmla="val 4286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3657600" y="34563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gateway (agentplane)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3657600" y="39135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SECRET_STORE=vault · :3001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3"/>
          <p:cNvSpPr/>
          <p:nvPr/>
        </p:nvSpPr>
        <p:spPr>
          <a:xfrm>
            <a:off x="3657600" y="426096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depends on vault-init · postgres · clickhouse · mock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4"/>
          <p:cNvSpPr/>
          <p:nvPr/>
        </p:nvSpPr>
        <p:spPr>
          <a:xfrm>
            <a:off x="548640" y="4937760"/>
            <a:ext cx="1110960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5"/>
          <p:cNvSpPr/>
          <p:nvPr/>
        </p:nvSpPr>
        <p:spPr>
          <a:xfrm>
            <a:off x="777240" y="509328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6"/>
          <p:cNvSpPr/>
          <p:nvPr/>
        </p:nvSpPr>
        <p:spPr>
          <a:xfrm>
            <a:off x="923400" y="509328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Startup sequence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7"/>
          <p:cNvSpPr/>
          <p:nvPr/>
        </p:nvSpPr>
        <p:spPr>
          <a:xfrm>
            <a:off x="777240" y="55137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vault-init enables KV v2 + AppRole, writes VAULT_ROLE_ID / VAULT_SECRET_ID to a shared volume (creds.env)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gateway entrypoint sources creds.env → AppRole login → short-lived client token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main.go applies Postgres migrations, wires ClickHouse, starts :3001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8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9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System Design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0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7863840" y="9144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0" b="1" u="none" strike="noStrike">
                <a:solidFill>
                  <a:srgbClr val="1A2338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IN" sz="1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749880" y="2788920"/>
            <a:ext cx="123408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749880" y="30632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SECTION 03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749880" y="345636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API Provisioning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749880" y="47091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Key design, the provisioning flow, authentication middleware, lifecycle &amp; revocation, and the full endpoint surface.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API PROVISIONING · DESIGN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API key design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structured key — non-sensitive key_id + secret — chosen over opaque keys for ops and audit.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548640" y="1600200"/>
            <a:ext cx="6766200" cy="141696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822960" y="1828800"/>
            <a:ext cx="621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ap_live_&lt;key_id&gt;_&lt;secret&gt;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22960" y="239580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ap =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AgentPlane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· live =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environmen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t · key_id =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credential id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· secret =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confidential </a:t>
            </a:r>
            <a:r>
              <a:rPr lang="en-US" sz="11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half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822960" y="27432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e.g.  ap_live_7F92KD82_a81f93c82d72e91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7543800" y="1600200"/>
            <a:ext cx="411444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7772400" y="17557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7918560" y="175572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Why not opaque keys?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7772400" y="215784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 opaque key has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 safe identifier —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logs, dashboards,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audit trails can't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show which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credential was used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without exposing </a:t>
            </a: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secret.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2"/>
          <p:cNvSpPr/>
          <p:nvPr/>
        </p:nvSpPr>
        <p:spPr>
          <a:xfrm>
            <a:off x="548640" y="3200400"/>
            <a:ext cx="111096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777240" y="32828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Indexed lookup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3291840" y="328284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key_id is a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UNIQUE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index —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O(1) row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fetch, verify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only the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secret.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5"/>
          <p:cNvSpPr/>
          <p:nvPr/>
        </p:nvSpPr>
        <p:spPr>
          <a:xfrm>
            <a:off x="548640" y="3986640"/>
            <a:ext cx="111096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6"/>
          <p:cNvSpPr/>
          <p:nvPr/>
        </p:nvSpPr>
        <p:spPr>
          <a:xfrm>
            <a:off x="777240" y="40690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Hash-only storage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7"/>
          <p:cNvSpPr/>
          <p:nvPr/>
        </p:nvSpPr>
        <p:spPr>
          <a:xfrm>
            <a:off x="3291840" y="406908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SHA-256(secret + pepper) stored; plaintext never persisted.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8"/>
          <p:cNvSpPr/>
          <p:nvPr/>
        </p:nvSpPr>
        <p:spPr>
          <a:xfrm>
            <a:off x="548640" y="4773240"/>
            <a:ext cx="111096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777240" y="48553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Safe audit trail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0"/>
          <p:cNvSpPr/>
          <p:nvPr/>
        </p:nvSpPr>
        <p:spPr>
          <a:xfrm>
            <a:off x="3291840" y="485532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key_id can appear in logs &amp; dashboards safely.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1"/>
          <p:cNvSpPr/>
          <p:nvPr/>
        </p:nvSpPr>
        <p:spPr>
          <a:xfrm>
            <a:off x="548640" y="5559480"/>
            <a:ext cx="1110960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777240" y="56419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Rotation &amp; ownership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3"/>
          <p:cNvSpPr/>
          <p:nvPr/>
        </p:nvSpPr>
        <p:spPr>
          <a:xfrm>
            <a:off x="3291840" y="564192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one user → many keys; revoke any key independently.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 Provisioning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API PROVISIONING · FLOW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Provisioning a user + key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Admin mints a user and an API key; only the hash is stored, the full key is returned once.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548640" y="157284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713160" y="161856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 /provision/user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713160" y="191520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admin token · {username, email?, key_name}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7"/>
          <p:cNvSpPr/>
          <p:nvPr/>
        </p:nvSpPr>
        <p:spPr>
          <a:xfrm>
            <a:off x="3749040" y="2286000"/>
            <a:ext cx="360" cy="54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548640" y="234072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713160" y="238644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Create user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713160" y="268308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users.Store.CreateUser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3749040" y="3053880"/>
            <a:ext cx="360" cy="5508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548640" y="310896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713160" y="315468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Generate key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713160" y="345132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ap_live_&lt;key_id&gt;_&lt;secret&gt;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3749040" y="3822120"/>
            <a:ext cx="360" cy="54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548640" y="387720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7"/>
          <p:cNvSpPr/>
          <p:nvPr/>
        </p:nvSpPr>
        <p:spPr>
          <a:xfrm>
            <a:off x="713160" y="392292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Hash secret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713160" y="421956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SHA-256(secret + pepper)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3749040" y="4590000"/>
            <a:ext cx="360" cy="5508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548640" y="464508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713160" y="469080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Persist key_id + hash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713160" y="498744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api_keys (user_id FK)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3749040" y="5358240"/>
            <a:ext cx="360" cy="54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4"/>
          <p:cNvSpPr/>
          <p:nvPr/>
        </p:nvSpPr>
        <p:spPr>
          <a:xfrm>
            <a:off x="548640" y="541332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0E9F8E"/>
          </a:solidFill>
          <a:ln w="12700">
            <a:solidFill>
              <a:srgbClr val="0E9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5"/>
          <p:cNvSpPr/>
          <p:nvPr/>
        </p:nvSpPr>
        <p:spPr>
          <a:xfrm>
            <a:off x="713160" y="5459040"/>
            <a:ext cx="60714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C1220"/>
                </a:solidFill>
                <a:effectLst/>
                <a:uFillTx/>
                <a:latin typeface="Calibri"/>
                <a:ea typeface="Calibri"/>
              </a:rPr>
              <a:t>Return full key ONCE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6"/>
          <p:cNvSpPr/>
          <p:nvPr/>
        </p:nvSpPr>
        <p:spPr>
          <a:xfrm>
            <a:off x="713160" y="5755680"/>
            <a:ext cx="60714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E5E56"/>
                </a:solidFill>
                <a:effectLst/>
                <a:uFillTx/>
                <a:latin typeface="Consolas"/>
                <a:ea typeface="Consolas"/>
              </a:rPr>
              <a:t>201 · {user_id, key_id, api_key}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7315200" y="1572840"/>
            <a:ext cx="43430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8"/>
          <p:cNvSpPr/>
          <p:nvPr/>
        </p:nvSpPr>
        <p:spPr>
          <a:xfrm>
            <a:off x="7498080" y="17373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9"/>
          <p:cNvSpPr/>
          <p:nvPr/>
        </p:nvSpPr>
        <p:spPr>
          <a:xfrm>
            <a:off x="7644240" y="173736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Safety properties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0"/>
          <p:cNvSpPr/>
          <p:nvPr/>
        </p:nvSpPr>
        <p:spPr>
          <a:xfrm>
            <a:off x="7498080" y="2148840"/>
            <a:ext cx="3977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Plaintext secret is never persisted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CreateAPIKeyParams has no plaintext field — a compile-time guarantee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Bounded retry on rare key_id collision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Sequential (not transactional) by design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1"/>
          <p:cNvSpPr/>
          <p:nvPr/>
        </p:nvSpPr>
        <p:spPr>
          <a:xfrm>
            <a:off x="7315200" y="3657600"/>
            <a:ext cx="43430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2"/>
          <p:cNvSpPr/>
          <p:nvPr/>
        </p:nvSpPr>
        <p:spPr>
          <a:xfrm>
            <a:off x="7498080" y="38221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3"/>
          <p:cNvSpPr/>
          <p:nvPr/>
        </p:nvSpPr>
        <p:spPr>
          <a:xfrm>
            <a:off x="7644240" y="382212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Example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7498080" y="422460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$ curl -X POST /provision/user \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5"/>
          <p:cNvSpPr/>
          <p:nvPr/>
        </p:nvSpPr>
        <p:spPr>
          <a:xfrm>
            <a:off x="7498080" y="449892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  -H </a:t>
            </a: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'Authorizatio</a:t>
            </a: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n: Bearer </a:t>
            </a: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$ADMIN' \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6"/>
          <p:cNvSpPr/>
          <p:nvPr/>
        </p:nvSpPr>
        <p:spPr>
          <a:xfrm>
            <a:off x="7498080" y="47732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  -d '{"username":"alice","key_name":"dev"}'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7"/>
          <p:cNvSpPr/>
          <p:nvPr/>
        </p:nvSpPr>
        <p:spPr>
          <a:xfrm>
            <a:off x="7498080" y="513900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→ { user_id, key_id, api_key }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8"/>
          <p:cNvSpPr/>
          <p:nvPr/>
        </p:nvSpPr>
        <p:spPr>
          <a:xfrm>
            <a:off x="7498080" y="553212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key is shown exactly once — treat it as a secret.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9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40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 Provisioning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1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API PROVISIONING · AUTH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Authentication middleware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Every protected route resolves the caller from their API key before any handler logic runs.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548640" y="157284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694800" y="160920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Require Authorization: Bearer &lt;key&gt;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694800" y="187128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else 401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3749040" y="219456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8"/>
          <p:cNvSpPr/>
          <p:nvPr/>
        </p:nvSpPr>
        <p:spPr>
          <a:xfrm>
            <a:off x="548640" y="223560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694800" y="227232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Parse key → key_id + secret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694800" y="253404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split ap_live_…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1"/>
          <p:cNvSpPr/>
          <p:nvPr/>
        </p:nvSpPr>
        <p:spPr>
          <a:xfrm>
            <a:off x="3749040" y="285732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548640" y="289872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694800" y="293508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Indexed lookup by key_id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694800" y="319716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SELECT api_keys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5"/>
          <p:cNvSpPr/>
          <p:nvPr/>
        </p:nvSpPr>
        <p:spPr>
          <a:xfrm>
            <a:off x="3749040" y="352044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548640" y="356148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694800" y="359820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 status / revoked / expiry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694800" y="385992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inactive, revoked, expired → 401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9"/>
          <p:cNvSpPr/>
          <p:nvPr/>
        </p:nvSpPr>
        <p:spPr>
          <a:xfrm>
            <a:off x="3749040" y="418320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0"/>
          <p:cNvSpPr/>
          <p:nvPr/>
        </p:nvSpPr>
        <p:spPr>
          <a:xfrm>
            <a:off x="548640" y="422460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694800" y="426096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Hash supplied secret + pepper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2"/>
          <p:cNvSpPr/>
          <p:nvPr/>
        </p:nvSpPr>
        <p:spPr>
          <a:xfrm>
            <a:off x="694800" y="452304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SHA-256 · constant-time compare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3"/>
          <p:cNvSpPr/>
          <p:nvPr/>
        </p:nvSpPr>
        <p:spPr>
          <a:xfrm>
            <a:off x="3749040" y="484632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4"/>
          <p:cNvSpPr/>
          <p:nvPr/>
        </p:nvSpPr>
        <p:spPr>
          <a:xfrm>
            <a:off x="548640" y="488736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5"/>
          <p:cNvSpPr/>
          <p:nvPr/>
        </p:nvSpPr>
        <p:spPr>
          <a:xfrm>
            <a:off x="694800" y="492408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Resolve user · update last_used_at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6"/>
          <p:cNvSpPr/>
          <p:nvPr/>
        </p:nvSpPr>
        <p:spPr>
          <a:xfrm>
            <a:off x="694800" y="518580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api_keys → users.id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7"/>
          <p:cNvSpPr/>
          <p:nvPr/>
        </p:nvSpPr>
        <p:spPr>
          <a:xfrm>
            <a:off x="3749040" y="5509080"/>
            <a:ext cx="360" cy="4104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8"/>
          <p:cNvSpPr/>
          <p:nvPr/>
        </p:nvSpPr>
        <p:spPr>
          <a:xfrm>
            <a:off x="548640" y="5550480"/>
            <a:ext cx="6400440" cy="621360"/>
          </a:xfrm>
          <a:prstGeom prst="roundRect">
            <a:avLst>
              <a:gd name="adj" fmla="val 7353"/>
            </a:avLst>
          </a:prstGeom>
          <a:solidFill>
            <a:srgbClr val="0E9F8E"/>
          </a:solidFill>
          <a:ln w="12700">
            <a:solidFill>
              <a:srgbClr val="0E9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9"/>
          <p:cNvSpPr/>
          <p:nvPr/>
        </p:nvSpPr>
        <p:spPr>
          <a:xfrm>
            <a:off x="694800" y="5586840"/>
            <a:ext cx="610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1220"/>
                </a:solidFill>
                <a:effectLst/>
                <a:uFillTx/>
                <a:latin typeface="Calibri"/>
                <a:ea typeface="Calibri"/>
              </a:rPr>
              <a:t>Attach user to context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0"/>
          <p:cNvSpPr/>
          <p:nvPr/>
        </p:nvSpPr>
        <p:spPr>
          <a:xfrm>
            <a:off x="694800" y="5848920"/>
            <a:ext cx="61077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E5E56"/>
                </a:solidFill>
                <a:effectLst/>
                <a:uFillTx/>
                <a:latin typeface="Consolas"/>
                <a:ea typeface="Consolas"/>
              </a:rPr>
              <a:t>UserFromContext(ctx)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1"/>
          <p:cNvSpPr/>
          <p:nvPr/>
        </p:nvSpPr>
        <p:spPr>
          <a:xfrm>
            <a:off x="7315200" y="1572840"/>
            <a:ext cx="43430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2"/>
          <p:cNvSpPr/>
          <p:nvPr/>
        </p:nvSpPr>
        <p:spPr>
          <a:xfrm>
            <a:off x="7498080" y="17373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33"/>
          <p:cNvSpPr/>
          <p:nvPr/>
        </p:nvSpPr>
        <p:spPr>
          <a:xfrm>
            <a:off x="7644240" y="173736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Security details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4"/>
          <p:cNvSpPr/>
          <p:nvPr/>
        </p:nvSpPr>
        <p:spPr>
          <a:xfrm>
            <a:off x="7498080" y="2148840"/>
            <a:ext cx="3977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crypto/subtle.ConstantTimeCompare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API key → api_keys.user_id → users.id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last_used_at written on success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Admin endpoints use a separate token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5"/>
          <p:cNvSpPr/>
          <p:nvPr/>
        </p:nvSpPr>
        <p:spPr>
          <a:xfrm>
            <a:off x="7315200" y="3611880"/>
            <a:ext cx="434304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6"/>
          <p:cNvSpPr/>
          <p:nvPr/>
        </p:nvSpPr>
        <p:spPr>
          <a:xfrm>
            <a:off x="7498080" y="377640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7"/>
          <p:cNvSpPr/>
          <p:nvPr/>
        </p:nvSpPr>
        <p:spPr>
          <a:xfrm>
            <a:off x="7644240" y="377640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Two auth </a:t>
            </a: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channels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8"/>
          <p:cNvSpPr/>
          <p:nvPr/>
        </p:nvSpPr>
        <p:spPr>
          <a:xfrm>
            <a:off x="7498080" y="416052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API key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9"/>
          <p:cNvSpPr/>
          <p:nvPr/>
        </p:nvSpPr>
        <p:spPr>
          <a:xfrm>
            <a:off x="7498080" y="443484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authenticates /chat — belongs to one user, supports many keys.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0"/>
          <p:cNvSpPr/>
          <p:nvPr/>
        </p:nvSpPr>
        <p:spPr>
          <a:xfrm>
            <a:off x="7498080" y="502920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Admin token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1"/>
          <p:cNvSpPr/>
          <p:nvPr/>
        </p:nvSpPr>
        <p:spPr>
          <a:xfrm>
            <a:off x="7498080" y="530352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gates provision, revoke, list, analytics, and secret writes. Constant-time compared too.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2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3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 Provisioning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4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API PROVISIONING · LIFECYCLE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Key lifecycle &amp; revocation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From minting to revocation — a key is auditable from birth to deactivation.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548640" y="1691640"/>
            <a:ext cx="1919880" cy="914040"/>
          </a:xfrm>
          <a:prstGeom prst="roundRect">
            <a:avLst>
              <a:gd name="adj" fmla="val 6000"/>
            </a:avLst>
          </a:prstGeom>
          <a:solidFill>
            <a:srgbClr val="DCF1E3"/>
          </a:solidFill>
          <a:ln w="12700">
            <a:solidFill>
              <a:srgbClr val="158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640080" y="17830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803D"/>
                </a:solidFill>
                <a:effectLst/>
                <a:uFillTx/>
                <a:latin typeface="Calibri"/>
                <a:ea typeface="Calibri"/>
              </a:rPr>
              <a:t>Minted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6"/>
          <p:cNvSpPr/>
          <p:nvPr/>
        </p:nvSpPr>
        <p:spPr>
          <a:xfrm>
            <a:off x="640080" y="21488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POST /provision/user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7"/>
          <p:cNvSpPr/>
          <p:nvPr/>
        </p:nvSpPr>
        <p:spPr>
          <a:xfrm>
            <a:off x="2468880" y="2148840"/>
            <a:ext cx="255960" cy="36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8"/>
          <p:cNvSpPr/>
          <p:nvPr/>
        </p:nvSpPr>
        <p:spPr>
          <a:xfrm>
            <a:off x="2724840" y="1691640"/>
            <a:ext cx="1919880" cy="914040"/>
          </a:xfrm>
          <a:prstGeom prst="roundRect">
            <a:avLst>
              <a:gd name="adj" fmla="val 6000"/>
            </a:avLst>
          </a:prstGeom>
          <a:solidFill>
            <a:srgbClr val="E8E7FB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2816280" y="17830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Active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2816280" y="21488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authenticates /chat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1"/>
          <p:cNvSpPr/>
          <p:nvPr/>
        </p:nvSpPr>
        <p:spPr>
          <a:xfrm>
            <a:off x="4645080" y="2148840"/>
            <a:ext cx="255960" cy="36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4901040" y="1691640"/>
            <a:ext cx="1919880" cy="914040"/>
          </a:xfrm>
          <a:prstGeom prst="roundRect">
            <a:avLst>
              <a:gd name="adj" fmla="val 6000"/>
            </a:avLst>
          </a:prstGeom>
          <a:solidFill>
            <a:srgbClr val="D8F5F1"/>
          </a:solidFill>
          <a:ln w="12700">
            <a:solidFill>
              <a:srgbClr val="0E9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4992480" y="17830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E9F8E"/>
                </a:solidFill>
                <a:effectLst/>
                <a:uFillTx/>
                <a:latin typeface="Calibri"/>
                <a:ea typeface="Calibri"/>
              </a:rPr>
              <a:t>In use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4"/>
          <p:cNvSpPr/>
          <p:nvPr/>
        </p:nvSpPr>
        <p:spPr>
          <a:xfrm>
            <a:off x="4992480" y="21488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last_used_at updates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6821280" y="2148840"/>
            <a:ext cx="255960" cy="36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6"/>
          <p:cNvSpPr/>
          <p:nvPr/>
        </p:nvSpPr>
        <p:spPr>
          <a:xfrm>
            <a:off x="7077600" y="1691640"/>
            <a:ext cx="1919880" cy="914040"/>
          </a:xfrm>
          <a:prstGeom prst="roundRect">
            <a:avLst>
              <a:gd name="adj" fmla="val 6000"/>
            </a:avLst>
          </a:prstGeom>
          <a:solidFill>
            <a:srgbClr val="FBE5E5"/>
          </a:solidFill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7169040" y="17830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Revoked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7169040" y="21488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revoked_at = now()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9"/>
          <p:cNvSpPr/>
          <p:nvPr/>
        </p:nvSpPr>
        <p:spPr>
          <a:xfrm>
            <a:off x="8997480" y="2148840"/>
            <a:ext cx="255960" cy="36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0"/>
          <p:cNvSpPr/>
          <p:nvPr/>
        </p:nvSpPr>
        <p:spPr>
          <a:xfrm>
            <a:off x="9253800" y="1691640"/>
            <a:ext cx="1919880" cy="914040"/>
          </a:xfrm>
          <a:prstGeom prst="roundRect">
            <a:avLst>
              <a:gd name="adj" fmla="val 6000"/>
            </a:avLst>
          </a:prstGeom>
          <a:solidFill>
            <a:srgbClr val="FBE5E5"/>
          </a:solidFill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9345240" y="17830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Rejected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2"/>
          <p:cNvSpPr/>
          <p:nvPr/>
        </p:nvSpPr>
        <p:spPr>
          <a:xfrm>
            <a:off x="9345240" y="21488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auth returns 401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3"/>
          <p:cNvSpPr/>
          <p:nvPr/>
        </p:nvSpPr>
        <p:spPr>
          <a:xfrm>
            <a:off x="548640" y="3063240"/>
            <a:ext cx="6034680" cy="301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4"/>
          <p:cNvSpPr/>
          <p:nvPr/>
        </p:nvSpPr>
        <p:spPr>
          <a:xfrm>
            <a:off x="777240" y="32461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5"/>
          <p:cNvSpPr/>
          <p:nvPr/>
        </p:nvSpPr>
        <p:spPr>
          <a:xfrm>
            <a:off x="923400" y="3246120"/>
            <a:ext cx="539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Security properties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6"/>
          <p:cNvSpPr/>
          <p:nvPr/>
        </p:nvSpPr>
        <p:spPr>
          <a:xfrm>
            <a:off x="777240" y="3657600"/>
            <a:ext cx="55774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Plaintext keys are never stored in PostgreSQL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Only the secret hash is persisted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One key → exactly one user; a user holds many keys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Keys revoke independently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Constant-time secret comparison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Inactive, expired, and revoked keys can't authenticate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Successful auth updates last_used_at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27"/>
          <p:cNvSpPr/>
          <p:nvPr/>
        </p:nvSpPr>
        <p:spPr>
          <a:xfrm>
            <a:off x="6858000" y="3063240"/>
            <a:ext cx="4800240" cy="301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8"/>
          <p:cNvSpPr/>
          <p:nvPr/>
        </p:nvSpPr>
        <p:spPr>
          <a:xfrm>
            <a:off x="7040880" y="32461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9"/>
          <p:cNvSpPr/>
          <p:nvPr/>
        </p:nvSpPr>
        <p:spPr>
          <a:xfrm>
            <a:off x="7187040" y="324612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Revocation endpoint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30"/>
          <p:cNvSpPr/>
          <p:nvPr/>
        </p:nvSpPr>
        <p:spPr>
          <a:xfrm>
            <a:off x="7040880" y="36576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POST /admin/api-keys/revoke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1"/>
          <p:cNvSpPr/>
          <p:nvPr/>
        </p:nvSpPr>
        <p:spPr>
          <a:xfrm>
            <a:off x="7040880" y="40050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{ "key_id": "fgftrwd" }  →  { status: "revoked" }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2"/>
          <p:cNvSpPr/>
          <p:nvPr/>
        </p:nvSpPr>
        <p:spPr>
          <a:xfrm>
            <a:off x="7040880" y="4480560"/>
            <a:ext cx="4434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row stays for audit/history. Only keys not already revoked are updated; unknown or already-revoked keys return 404.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3"/>
          <p:cNvSpPr/>
          <p:nvPr/>
        </p:nvSpPr>
        <p:spPr>
          <a:xfrm>
            <a:off x="7040880" y="534924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Schema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4"/>
          <p:cNvSpPr/>
          <p:nvPr/>
        </p:nvSpPr>
        <p:spPr>
          <a:xfrm>
            <a:off x="7040880" y="56052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api_keys: id, key_id (UNIQUE), user_id (FK), name, secret_hash, status, created_at, last_used_at, expires_at, revoked_at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5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6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 Provisioning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7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API PROVISIONING · SURFACE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Endpoint reference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full HTTP surface — user path, admin path, and the open observability path.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8" name="Table 0"/>
          <p:cNvGraphicFramePr/>
          <p:nvPr/>
        </p:nvGraphicFramePr>
        <p:xfrm>
          <a:off x="548640" y="1572840"/>
          <a:ext cx="11109600" cy="28296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2011680"/>
                <a:gridCol w="498348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Method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Path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Auth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Purpose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POST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/chat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Bearer API key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Forward a chat completion to the LLM provider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POST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/provision/user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Create a user and mint an API key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POST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/admin/api-keys/revoke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Revoke an API key by key_id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/admin/api-keys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List provisioned keys (no secrets)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/admin/analytics/users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Per-user spend + searchable prompt log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/admin/analytics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ClickHouse analytics (type=…)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/analytics/traces_count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Pinned trace-count query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POST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/admin/secrets/provider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Persist a provider key (Vault)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/events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—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Server-sent event stream of the pipeline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/dashboard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—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Embedded HTML dashboard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/metrics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—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 metrics JSON snapshot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9" name="Text 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API Provisioning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 0"/>
          <p:cNvSpPr/>
          <p:nvPr/>
        </p:nvSpPr>
        <p:spPr>
          <a:xfrm>
            <a:off x="7863840" y="9144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0" b="1" u="none" strike="noStrike">
                <a:solidFill>
                  <a:srgbClr val="1A2338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IN" sz="1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"/>
          <p:cNvSpPr/>
          <p:nvPr/>
        </p:nvSpPr>
        <p:spPr>
          <a:xfrm>
            <a:off x="749880" y="2788920"/>
            <a:ext cx="123408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749880" y="30632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SECTION 04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749880" y="345636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Guardrails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749880" y="47091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A 33-guardrail enforcement engine — internal regex, external ML APIs, and composable functions — run on input and output.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ARCHITECTURE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The enforcement engine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registry resolves named guardrails into directional sets, evaluated by a centralized EnforcementPoint.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4"/>
          <p:cNvSpPr/>
          <p:nvPr/>
        </p:nvSpPr>
        <p:spPr>
          <a:xfrm>
            <a:off x="548640" y="1572840"/>
            <a:ext cx="5943240" cy="749520"/>
          </a:xfrm>
          <a:prstGeom prst="roundRect">
            <a:avLst>
              <a:gd name="adj" fmla="val 6098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5"/>
          <p:cNvSpPr/>
          <p:nvPr/>
        </p:nvSpPr>
        <p:spPr>
          <a:xfrm>
            <a:off x="694800" y="162756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Registry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694800" y="1974960"/>
            <a:ext cx="5650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thread-safe map of guardrails by name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3520440" y="2322360"/>
            <a:ext cx="360" cy="6408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548640" y="2386440"/>
            <a:ext cx="5943240" cy="749520"/>
          </a:xfrm>
          <a:prstGeom prst="roundRect">
            <a:avLst>
              <a:gd name="adj" fmla="val 6098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9"/>
          <p:cNvSpPr/>
          <p:nvPr/>
        </p:nvSpPr>
        <p:spPr>
          <a:xfrm>
            <a:off x="694800" y="244152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GuardrailSet (input / output)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0"/>
          <p:cNvSpPr/>
          <p:nvPr/>
        </p:nvSpPr>
        <p:spPr>
          <a:xfrm>
            <a:off x="694800" y="2788920"/>
            <a:ext cx="5650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ordered list of GuardrailSpec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"/>
          <p:cNvSpPr/>
          <p:nvPr/>
        </p:nvSpPr>
        <p:spPr>
          <a:xfrm>
            <a:off x="3520440" y="3136320"/>
            <a:ext cx="360" cy="6408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2"/>
          <p:cNvSpPr/>
          <p:nvPr/>
        </p:nvSpPr>
        <p:spPr>
          <a:xfrm>
            <a:off x="548640" y="3200400"/>
            <a:ext cx="5943240" cy="749520"/>
          </a:xfrm>
          <a:prstGeom prst="roundRect">
            <a:avLst>
              <a:gd name="adj" fmla="val 6098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3"/>
          <p:cNvSpPr/>
          <p:nvPr/>
        </p:nvSpPr>
        <p:spPr>
          <a:xfrm>
            <a:off x="694800" y="325512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EnforcementPoint.Evaluate()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4"/>
          <p:cNvSpPr/>
          <p:nvPr/>
        </p:nvSpPr>
        <p:spPr>
          <a:xfrm>
            <a:off x="694800" y="3602880"/>
            <a:ext cx="5650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resolve → check strategy → run → resolve mode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5"/>
          <p:cNvSpPr/>
          <p:nvPr/>
        </p:nvSpPr>
        <p:spPr>
          <a:xfrm>
            <a:off x="3520440" y="3949920"/>
            <a:ext cx="360" cy="6408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6"/>
          <p:cNvSpPr/>
          <p:nvPr/>
        </p:nvSpPr>
        <p:spPr>
          <a:xfrm>
            <a:off x="548640" y="4014360"/>
            <a:ext cx="5943240" cy="749520"/>
          </a:xfrm>
          <a:prstGeom prst="roundRect">
            <a:avLst>
              <a:gd name="adj" fmla="val 6098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7"/>
          <p:cNvSpPr/>
          <p:nvPr/>
        </p:nvSpPr>
        <p:spPr>
          <a:xfrm>
            <a:off x="694800" y="406908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Guardrail.E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valuate(ct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x, dir,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body)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8"/>
          <p:cNvSpPr/>
          <p:nvPr/>
        </p:nvSpPr>
        <p:spPr>
          <a:xfrm>
            <a:off x="694800" y="4416480"/>
            <a:ext cx="5650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returns </a:t>
            </a: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Decision + </a:t>
            </a: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Findings + </a:t>
            </a: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Redacted body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9"/>
          <p:cNvSpPr/>
          <p:nvPr/>
        </p:nvSpPr>
        <p:spPr>
          <a:xfrm>
            <a:off x="548640" y="50292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Request body → Evaluate(input) → Provider → Evaluate(output) → Response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0"/>
          <p:cNvSpPr/>
          <p:nvPr/>
        </p:nvSpPr>
        <p:spPr>
          <a:xfrm>
            <a:off x="548640" y="544068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block → 403 · redact → modified body · required-error → 503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1"/>
          <p:cNvSpPr/>
          <p:nvPr/>
        </p:nvSpPr>
        <p:spPr>
          <a:xfrm>
            <a:off x="6858000" y="1572840"/>
            <a:ext cx="48002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2"/>
          <p:cNvSpPr/>
          <p:nvPr/>
        </p:nvSpPr>
        <p:spPr>
          <a:xfrm>
            <a:off x="7040880" y="173736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3"/>
          <p:cNvSpPr/>
          <p:nvPr/>
        </p:nvSpPr>
        <p:spPr>
          <a:xfrm>
            <a:off x="7187040" y="173736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Decisions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4"/>
          <p:cNvSpPr/>
          <p:nvPr/>
        </p:nvSpPr>
        <p:spPr>
          <a:xfrm>
            <a:off x="7040880" y="2121480"/>
            <a:ext cx="4434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5803D"/>
                </a:solidFill>
                <a:effectLst/>
                <a:uFillTx/>
                <a:latin typeface="Consolas"/>
                <a:ea typeface="Consolas"/>
              </a:rPr>
              <a:t>Pass · </a:t>
            </a: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allow through    </a:t>
            </a:r>
            <a:r>
              <a:rPr lang="en-US" sz="1000" b="1" u="none" strike="noStrike">
                <a:solidFill>
                  <a:srgbClr val="B91C1C"/>
                </a:solidFill>
                <a:effectLst/>
                <a:uFillTx/>
                <a:latin typeface="Consolas"/>
                <a:ea typeface="Consolas"/>
              </a:rPr>
              <a:t>Block ·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403    </a:t>
            </a:r>
            <a:r>
              <a:rPr lang="en-US" sz="10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Redact ·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sanitize</a:t>
            </a:r>
            <a:r>
              <a:rPr lang="en-US" sz="100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    LogOnly / Warn ·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surface, continue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25"/>
          <p:cNvSpPr/>
          <p:nvPr/>
        </p:nvSpPr>
        <p:spPr>
          <a:xfrm>
            <a:off x="6858000" y="3429000"/>
            <a:ext cx="4800240" cy="137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6"/>
          <p:cNvSpPr/>
          <p:nvPr/>
        </p:nvSpPr>
        <p:spPr>
          <a:xfrm>
            <a:off x="7040880" y="35935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7"/>
          <p:cNvSpPr/>
          <p:nvPr/>
        </p:nvSpPr>
        <p:spPr>
          <a:xfrm>
            <a:off x="7187040" y="359352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Modes (per guardrail)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8"/>
          <p:cNvSpPr/>
          <p:nvPr/>
        </p:nvSpPr>
        <p:spPr>
          <a:xfrm>
            <a:off x="7040880" y="397764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enforce</a:t>
            </a: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honor decision      </a:t>
            </a:r>
            <a:r>
              <a:rPr lang="en-US" sz="100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warn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block→warn, redact→log  </a:t>
            </a:r>
            <a:r>
              <a:rPr lang="en-US" sz="1000" b="1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log_only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downgrade to log    </a:t>
            </a:r>
            <a:r>
              <a:rPr lang="en-US" sz="1000" b="1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off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skip entirely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9"/>
          <p:cNvSpPr/>
          <p:nvPr/>
        </p:nvSpPr>
        <p:spPr>
          <a:xfrm>
            <a:off x="6858000" y="4937760"/>
            <a:ext cx="480024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0"/>
          <p:cNvSpPr/>
          <p:nvPr/>
        </p:nvSpPr>
        <p:spPr>
          <a:xfrm>
            <a:off x="7040880" y="5083920"/>
            <a:ext cx="63720" cy="32868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1"/>
          <p:cNvSpPr/>
          <p:nvPr/>
        </p:nvSpPr>
        <p:spPr>
          <a:xfrm>
            <a:off x="7187040" y="508392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Fail-open vs fail-closed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2"/>
          <p:cNvSpPr/>
          <p:nvPr/>
        </p:nvSpPr>
        <p:spPr>
          <a:xfrm>
            <a:off x="7040880" y="5486400"/>
            <a:ext cx="4434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Required:true → error blocks (503). Optional → disabled or errored guards are skipped (fail-open).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33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4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5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CATALOG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33 guardrails, three tiers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Internal regex, external ML APIs, and composable functions — all off by default, enabled via GUARDRAIL_&lt;NAME&gt;.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"/>
          <p:cNvSpPr/>
          <p:nvPr/>
        </p:nvSpPr>
        <p:spPr>
          <a:xfrm>
            <a:off x="548640" y="1600200"/>
            <a:ext cx="11109600" cy="1371240"/>
          </a:xfrm>
          <a:prstGeom prst="rect">
            <a:avLst/>
          </a:prstGeom>
          <a:solidFill>
            <a:srgbClr val="E8E7FB"/>
          </a:solidFill>
          <a:ln w="12700">
            <a:solidFill>
              <a:srgbClr val="E8E7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5"/>
          <p:cNvSpPr/>
          <p:nvPr/>
        </p:nvSpPr>
        <p:spPr>
          <a:xfrm>
            <a:off x="822960" y="1984320"/>
            <a:ext cx="621360" cy="621360"/>
          </a:xfrm>
          <a:prstGeom prst="ellipse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822960" y="19843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7"/>
          <p:cNvSpPr/>
          <p:nvPr/>
        </p:nvSpPr>
        <p:spPr>
          <a:xfrm>
            <a:off x="1645920" y="172836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Tier 1 · Internal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1645920" y="213048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In-process regex. prompt_injection, secrets, pii, content_moderation. Block / redact / warn.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9"/>
          <p:cNvSpPr/>
          <p:nvPr/>
        </p:nvSpPr>
        <p:spPr>
          <a:xfrm>
            <a:off x="9509760" y="1728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&lt; 1 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0"/>
          <p:cNvSpPr/>
          <p:nvPr/>
        </p:nvSpPr>
        <p:spPr>
          <a:xfrm>
            <a:off x="9509760" y="21304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latency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1"/>
          <p:cNvSpPr/>
          <p:nvPr/>
        </p:nvSpPr>
        <p:spPr>
          <a:xfrm>
            <a:off x="548640" y="3081600"/>
            <a:ext cx="11109600" cy="1371240"/>
          </a:xfrm>
          <a:prstGeom prst="rect">
            <a:avLst/>
          </a:prstGeom>
          <a:solidFill>
            <a:srgbClr val="D8F5F1"/>
          </a:solidFill>
          <a:ln w="12700">
            <a:solidFill>
              <a:srgbClr val="D8F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2"/>
          <p:cNvSpPr/>
          <p:nvPr/>
        </p:nvSpPr>
        <p:spPr>
          <a:xfrm>
            <a:off x="822960" y="3465720"/>
            <a:ext cx="621360" cy="621360"/>
          </a:xfrm>
          <a:prstGeom prst="ellipse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3"/>
          <p:cNvSpPr/>
          <p:nvPr/>
        </p:nvSpPr>
        <p:spPr>
          <a:xfrm>
            <a:off x="822960" y="346572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4"/>
          <p:cNvSpPr/>
          <p:nvPr/>
        </p:nvSpPr>
        <p:spPr>
          <a:xfrm>
            <a:off x="1645920" y="32094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Tier 2 · External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5"/>
          <p:cNvSpPr/>
          <p:nvPr/>
        </p:nvSpPr>
        <p:spPr>
          <a:xfrm>
            <a:off x="1645920" y="361188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Third-party ML APIs — Lakera, OpenAI Moderation, NVIDIA, AIM, Lumigator, Prisma AIRS, Zscaler.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6"/>
          <p:cNvSpPr/>
          <p:nvPr/>
        </p:nvSpPr>
        <p:spPr>
          <a:xfrm>
            <a:off x="9509760" y="32094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5–500 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7"/>
          <p:cNvSpPr/>
          <p:nvPr/>
        </p:nvSpPr>
        <p:spPr>
          <a:xfrm>
            <a:off x="9509760" y="36118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latency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8"/>
          <p:cNvSpPr/>
          <p:nvPr/>
        </p:nvSpPr>
        <p:spPr>
          <a:xfrm>
            <a:off x="548640" y="4563000"/>
            <a:ext cx="11109600" cy="1371240"/>
          </a:xfrm>
          <a:prstGeom prst="rect">
            <a:avLst/>
          </a:prstGeom>
          <a:solidFill>
            <a:srgbClr val="FCEFD9"/>
          </a:solidFill>
          <a:ln w="12700">
            <a:solidFill>
              <a:srgbClr val="FCEF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9"/>
          <p:cNvSpPr/>
          <p:nvPr/>
        </p:nvSpPr>
        <p:spPr>
          <a:xfrm>
            <a:off x="822960" y="4946760"/>
            <a:ext cx="621360" cy="62136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0"/>
          <p:cNvSpPr/>
          <p:nvPr/>
        </p:nvSpPr>
        <p:spPr>
          <a:xfrm>
            <a:off x="822960" y="494676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22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1"/>
          <p:cNvSpPr/>
          <p:nvPr/>
        </p:nvSpPr>
        <p:spPr>
          <a:xfrm>
            <a:off x="1645920" y="46908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Tier 3 · Functions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2"/>
          <p:cNvSpPr/>
          <p:nvPr/>
        </p:nvSpPr>
        <p:spPr>
          <a:xfrm>
            <a:off x="1645920" y="509328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Composable in-process rules: pattern match, structure validation, constraints, model governance, transformers.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3"/>
          <p:cNvSpPr/>
          <p:nvPr/>
        </p:nvSpPr>
        <p:spPr>
          <a:xfrm>
            <a:off x="9509760" y="46908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&lt; 1 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4"/>
          <p:cNvSpPr/>
          <p:nvPr/>
        </p:nvSpPr>
        <p:spPr>
          <a:xfrm>
            <a:off x="9509760" y="509328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latency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5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6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7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16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TIER 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Internal guardrails (4)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Core security checks running in-process with regex — sub-millisecond, always first in the pipeline.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548640" y="1600200"/>
            <a:ext cx="548604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5"/>
          <p:cNvSpPr/>
          <p:nvPr/>
        </p:nvSpPr>
        <p:spPr>
          <a:xfrm>
            <a:off x="548640" y="1600200"/>
            <a:ext cx="63720" cy="2011320"/>
          </a:xfrm>
          <a:prstGeom prst="rect">
            <a:avLst/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749880" y="17463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prompt_inject</a:t>
            </a: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749880" y="2167200"/>
            <a:ext cx="5083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Detects attempts to override system instructions or extract hidden prompts.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8"/>
          <p:cNvSpPr/>
          <p:nvPr/>
        </p:nvSpPr>
        <p:spPr>
          <a:xfrm>
            <a:off x="749880" y="3173040"/>
            <a:ext cx="508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91C1C"/>
                </a:solidFill>
                <a:effectLst/>
                <a:uFillTx/>
                <a:latin typeface="Consolas"/>
                <a:ea typeface="Consolas"/>
              </a:rPr>
              <a:t>15 patterns · BLOCK · input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9"/>
          <p:cNvSpPr/>
          <p:nvPr/>
        </p:nvSpPr>
        <p:spPr>
          <a:xfrm>
            <a:off x="6172200" y="1600200"/>
            <a:ext cx="548604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0"/>
          <p:cNvSpPr/>
          <p:nvPr/>
        </p:nvSpPr>
        <p:spPr>
          <a:xfrm>
            <a:off x="6172200" y="1600200"/>
            <a:ext cx="63720" cy="2011320"/>
          </a:xfrm>
          <a:prstGeom prst="rect">
            <a:avLst/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1"/>
          <p:cNvSpPr/>
          <p:nvPr/>
        </p:nvSpPr>
        <p:spPr>
          <a:xfrm>
            <a:off x="6373440" y="17463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secrets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2"/>
          <p:cNvSpPr/>
          <p:nvPr/>
        </p:nvSpPr>
        <p:spPr>
          <a:xfrm>
            <a:off x="6373440" y="2167200"/>
            <a:ext cx="5083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Detects leaked credentials and tokens (gitleaks-backed) in prompts and responses.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6373440" y="3173040"/>
            <a:ext cx="508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91C1C"/>
                </a:solidFill>
                <a:effectLst/>
                <a:uFillTx/>
                <a:latin typeface="Consolas"/>
                <a:ea typeface="Consolas"/>
              </a:rPr>
              <a:t>28 patterns · BLOCK · in+out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548640" y="3831480"/>
            <a:ext cx="548604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5"/>
          <p:cNvSpPr/>
          <p:nvPr/>
        </p:nvSpPr>
        <p:spPr>
          <a:xfrm>
            <a:off x="548640" y="3831480"/>
            <a:ext cx="63720" cy="201132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6"/>
          <p:cNvSpPr/>
          <p:nvPr/>
        </p:nvSpPr>
        <p:spPr>
          <a:xfrm>
            <a:off x="749880" y="39776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pii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7"/>
          <p:cNvSpPr/>
          <p:nvPr/>
        </p:nvSpPr>
        <p:spPr>
          <a:xfrm>
            <a:off x="749880" y="4398120"/>
            <a:ext cx="5083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Detects and redacts personally identifiable information for GDPR/CCPA.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8"/>
          <p:cNvSpPr/>
          <p:nvPr/>
        </p:nvSpPr>
        <p:spPr>
          <a:xfrm>
            <a:off x="749880" y="5403960"/>
            <a:ext cx="508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7 patterns · REDACT · in+out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9"/>
          <p:cNvSpPr/>
          <p:nvPr/>
        </p:nvSpPr>
        <p:spPr>
          <a:xfrm>
            <a:off x="6172200" y="3831480"/>
            <a:ext cx="548604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0"/>
          <p:cNvSpPr/>
          <p:nvPr/>
        </p:nvSpPr>
        <p:spPr>
          <a:xfrm>
            <a:off x="6172200" y="3831480"/>
            <a:ext cx="63720" cy="201132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1"/>
          <p:cNvSpPr/>
          <p:nvPr/>
        </p:nvSpPr>
        <p:spPr>
          <a:xfrm>
            <a:off x="6373440" y="39776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content_moderation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2"/>
          <p:cNvSpPr/>
          <p:nvPr/>
        </p:nvSpPr>
        <p:spPr>
          <a:xfrm>
            <a:off x="6373440" y="4398120"/>
            <a:ext cx="5083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Keyword-based harmful-content detection across five categories.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3"/>
          <p:cNvSpPr/>
          <p:nvPr/>
        </p:nvSpPr>
        <p:spPr>
          <a:xfrm>
            <a:off x="6373440" y="5403960"/>
            <a:ext cx="508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5 categories · WARN · in+out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4"/>
          <p:cNvSpPr/>
          <p:nvPr/>
        </p:nvSpPr>
        <p:spPr>
          <a:xfrm>
            <a:off x="548640" y="5852160"/>
            <a:ext cx="11109600" cy="548280"/>
          </a:xfrm>
          <a:prstGeom prst="rect">
            <a:avLst/>
          </a:prstGeom>
          <a:solidFill>
            <a:srgbClr val="FBE5E5"/>
          </a:solidFill>
          <a:ln w="12700">
            <a:solidFill>
              <a:srgbClr val="FB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5"/>
          <p:cNvSpPr/>
          <p:nvPr/>
        </p:nvSpPr>
        <p:spPr>
          <a:xfrm>
            <a:off x="777240" y="59619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B91C1C"/>
                </a:solidFill>
                <a:effectLst/>
                <a:uFillTx/>
                <a:latin typeface="Calibri"/>
                <a:ea typeface="Calibri"/>
              </a:rPr>
              <a:t>Detection examples: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6"/>
          <p:cNvSpPr/>
          <p:nvPr/>
        </p:nvSpPr>
        <p:spPr>
          <a:xfrm>
            <a:off x="2606040" y="5961960"/>
            <a:ext cx="8869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“ignore previous instructions” · sk-… · ghp_… · AKIA… · credit-card numbers · emails · SSNs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7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8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9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17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TIER 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External guardrails (7)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ML-powered third-party APIs for advanced prompt-injection and content-safety detection. Fail-open by default, 5s timeout.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5" name="Table 0"/>
          <p:cNvGraphicFramePr/>
          <p:nvPr/>
        </p:nvGraphicFramePr>
        <p:xfrm>
          <a:off x="548640" y="1600200"/>
          <a:ext cx="8503560" cy="248904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377440"/>
                <a:gridCol w="109728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Purpose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Endpoint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Config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aim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Meta LlamaGuard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api.aim.security/v1/analyze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AIM_API_KEY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lakera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Prompt-injection detection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api.lakera.ai/v1/guard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LAKERA_API_KEY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lumigator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LLM safety evaluation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api.lumigator.ai/v1/evaluate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LUMIGATOR_API_KEY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prisma_airs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PANW AI runtime security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api.prisma.paloaltonetworks.com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PRISMA_AIRS_API_KEY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nvidia_content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NVIDIA content safety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api.nvidia.com/v1/content-safety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NVIDIA_CONTENT_API_KEY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openai_moderation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OpenAI Moderation API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api.openai.com/v1/moderations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OPENAI_MODERATION_API_KEY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zscaler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Zscaler AI guard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api.zscaler.com/ai/v1/guard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ZSCALER_API_KEY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6" name="Shape 4"/>
          <p:cNvSpPr/>
          <p:nvPr/>
        </p:nvSpPr>
        <p:spPr>
          <a:xfrm>
            <a:off x="9235440" y="1600200"/>
            <a:ext cx="2422800" cy="2285640"/>
          </a:xfrm>
          <a:prstGeom prst="rect">
            <a:avLst/>
          </a:prstGeom>
          <a:solidFill>
            <a:srgbClr val="D8F5F1"/>
          </a:solidFill>
          <a:ln w="12700">
            <a:solidFill>
              <a:srgbClr val="D8F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5"/>
          <p:cNvSpPr/>
          <p:nvPr/>
        </p:nvSpPr>
        <p:spPr>
          <a:xfrm>
            <a:off x="9399960" y="178308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6"/>
          <p:cNvSpPr/>
          <p:nvPr/>
        </p:nvSpPr>
        <p:spPr>
          <a:xfrm>
            <a:off x="9546480" y="1783080"/>
            <a:ext cx="1910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Why external?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7"/>
          <p:cNvSpPr/>
          <p:nvPr/>
        </p:nvSpPr>
        <p:spPr>
          <a:xfrm>
            <a:off x="9399960" y="2212920"/>
            <a:ext cx="2093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ML models trained on millions of attack samples catch nuanced injection, jailbreak, and safety violations that regex misses.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8"/>
          <p:cNvSpPr/>
          <p:nvPr/>
        </p:nvSpPr>
        <p:spPr>
          <a:xfrm>
            <a:off x="548640" y="4709160"/>
            <a:ext cx="1110960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9"/>
          <p:cNvSpPr/>
          <p:nvPr/>
        </p:nvSpPr>
        <p:spPr>
          <a:xfrm>
            <a:off x="777240" y="489204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0"/>
          <p:cNvSpPr/>
          <p:nvPr/>
        </p:nvSpPr>
        <p:spPr>
          <a:xfrm>
            <a:off x="923400" y="489204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Activation &amp; behavior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1"/>
          <p:cNvSpPr/>
          <p:nvPr/>
        </p:nvSpPr>
        <p:spPr>
          <a:xfrm>
            <a:off x="777240" y="53035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Off by default — a guardrail activates only when its API key env var is 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Fail-open: if the API is unreachable or times out (5s), the request continues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Each external guard adds network latency — pick 1–2 that cover your threat model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2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3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4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18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TIER 3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Function guardrails (22)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Composable, in-process building blocks for custom policies — no code required to enforce domain rules.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548640" y="160020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5"/>
          <p:cNvSpPr/>
          <p:nvPr/>
        </p:nvSpPr>
        <p:spPr>
          <a:xfrm>
            <a:off x="694800" y="171000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6"/>
          <p:cNvSpPr/>
          <p:nvPr/>
        </p:nvSpPr>
        <p:spPr>
          <a:xfrm>
            <a:off x="841320" y="17100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Pattern / text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7"/>
          <p:cNvSpPr/>
          <p:nvPr/>
        </p:nvSpPr>
        <p:spPr>
          <a:xfrm>
            <a:off x="694800" y="211212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regex_match  ·  contains  ·  contains_code  ·  ends_with  ·  valid_urls  ·  all_uppercase  ·  all_lowercase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8"/>
          <p:cNvSpPr/>
          <p:nvPr/>
        </p:nvSpPr>
        <p:spPr>
          <a:xfrm>
            <a:off x="4270320" y="160020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4416480" y="171000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0"/>
          <p:cNvSpPr/>
          <p:nvPr/>
        </p:nvSpPr>
        <p:spPr>
          <a:xfrm>
            <a:off x="4563000" y="17100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Structure validation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1"/>
          <p:cNvSpPr/>
          <p:nvPr/>
        </p:nvSpPr>
        <p:spPr>
          <a:xfrm>
            <a:off x="4416480" y="211212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json_schema  ·  json_keys  ·  jwt  ·  not_null  ·  required_metadata_keys  ·  allowed_request_types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2"/>
          <p:cNvSpPr/>
          <p:nvPr/>
        </p:nvSpPr>
        <p:spPr>
          <a:xfrm>
            <a:off x="7992000" y="160020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3"/>
          <p:cNvSpPr/>
          <p:nvPr/>
        </p:nvSpPr>
        <p:spPr>
          <a:xfrm>
            <a:off x="8138160" y="1710000"/>
            <a:ext cx="63720" cy="32868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4"/>
          <p:cNvSpPr/>
          <p:nvPr/>
        </p:nvSpPr>
        <p:spPr>
          <a:xfrm>
            <a:off x="8284320" y="17100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5"/>
          <p:cNvSpPr/>
          <p:nvPr/>
        </p:nvSpPr>
        <p:spPr>
          <a:xfrm>
            <a:off x="8138160" y="211212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word_count  ·  sentence_count  ·  character_count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6"/>
          <p:cNvSpPr/>
          <p:nvPr/>
        </p:nvSpPr>
        <p:spPr>
          <a:xfrm>
            <a:off x="548640" y="324612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694800" y="3355920"/>
            <a:ext cx="63720" cy="328680"/>
          </a:xfrm>
          <a:prstGeom prst="rect">
            <a:avLst/>
          </a:prstGeom>
          <a:solidFill>
            <a:srgbClr val="B9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8"/>
          <p:cNvSpPr/>
          <p:nvPr/>
        </p:nvSpPr>
        <p:spPr>
          <a:xfrm>
            <a:off x="841320" y="335592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Model governance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9"/>
          <p:cNvSpPr/>
          <p:nvPr/>
        </p:nvSpPr>
        <p:spPr>
          <a:xfrm>
            <a:off x="694800" y="375804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model_whitelist  ·  model_rules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0"/>
          <p:cNvSpPr/>
          <p:nvPr/>
        </p:nvSpPr>
        <p:spPr>
          <a:xfrm>
            <a:off x="4270320" y="324612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1"/>
          <p:cNvSpPr/>
          <p:nvPr/>
        </p:nvSpPr>
        <p:spPr>
          <a:xfrm>
            <a:off x="4416480" y="33559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2"/>
          <p:cNvSpPr/>
          <p:nvPr/>
        </p:nvSpPr>
        <p:spPr>
          <a:xfrm>
            <a:off x="4563000" y="335592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Delegation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23"/>
          <p:cNvSpPr/>
          <p:nvPr/>
        </p:nvSpPr>
        <p:spPr>
          <a:xfrm>
            <a:off x="4416480" y="375804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webhook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24"/>
          <p:cNvSpPr/>
          <p:nvPr/>
        </p:nvSpPr>
        <p:spPr>
          <a:xfrm>
            <a:off x="7992000" y="3246120"/>
            <a:ext cx="365724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5"/>
          <p:cNvSpPr/>
          <p:nvPr/>
        </p:nvSpPr>
        <p:spPr>
          <a:xfrm>
            <a:off x="8138160" y="33559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6"/>
          <p:cNvSpPr/>
          <p:nvPr/>
        </p:nvSpPr>
        <p:spPr>
          <a:xfrm>
            <a:off x="8284320" y="335592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Transformers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7"/>
          <p:cNvSpPr/>
          <p:nvPr/>
        </p:nvSpPr>
        <p:spPr>
          <a:xfrm>
            <a:off x="8138160" y="375804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log  ·  add_prefix  ·  regex_replace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8"/>
          <p:cNvSpPr/>
          <p:nvPr/>
        </p:nvSpPr>
        <p:spPr>
          <a:xfrm>
            <a:off x="548640" y="4983480"/>
            <a:ext cx="11109600" cy="1142640"/>
          </a:xfrm>
          <a:prstGeom prst="rect">
            <a:avLst/>
          </a:prstGeom>
          <a:solidFill>
            <a:srgbClr val="FCEFD9"/>
          </a:solidFill>
          <a:ln w="12700">
            <a:solidFill>
              <a:srgbClr val="FCEF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9"/>
          <p:cNvSpPr/>
          <p:nvPr/>
        </p:nvSpPr>
        <p:spPr>
          <a:xfrm>
            <a:off x="777240" y="5139000"/>
            <a:ext cx="63720" cy="32868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30"/>
          <p:cNvSpPr/>
          <p:nvPr/>
        </p:nvSpPr>
        <p:spPr>
          <a:xfrm>
            <a:off x="923400" y="513900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Examples in practice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31"/>
          <p:cNvSpPr/>
          <p:nvPr/>
        </p:nvSpPr>
        <p:spPr>
          <a:xfrm>
            <a:off x="777240" y="554112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model_whitelist=gpt-4o,gpt-4o-mini · json_schema for strict API contracts · regex_replace to strip internal hostnames · webhook for org-specific policies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2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3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34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19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GUARDRAILS · EXECUTION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Mode resolution &amp; HTTP behavior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Per-guardrail mode reshapes the raw decision — and the handler maps it to an HTTP status.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6" name="Table 0"/>
          <p:cNvGraphicFramePr/>
          <p:nvPr/>
        </p:nvGraphicFramePr>
        <p:xfrm>
          <a:off x="548640" y="1600200"/>
          <a:ext cx="67662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173736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 enforce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 log_only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 warn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BLOCK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BLOCK (stop)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REDACT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REDACT (modify)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LOG_ONLY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PASS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PASS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PASS (continue)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7" name="Table 1"/>
          <p:cNvGraphicFramePr/>
          <p:nvPr/>
        </p:nvGraphicFramePr>
        <p:xfrm>
          <a:off x="7589520" y="1600200"/>
          <a:ext cx="4068720" cy="128088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0020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</a:t>
                      </a:r>
                      <a:endParaRPr lang="en-IN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HTTP</a:t>
                      </a:r>
                      <a:endParaRPr lang="en-IN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Body</a:t>
                      </a:r>
                      <a:endParaRPr lang="en-IN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DecisionBlock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403 Forbidden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guardrail_blocked + findings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DecisionRedact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 OK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redacted body forwarded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DecisionWarn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 OK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warning event, body passes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DecisionLogOnly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200 OK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event logged, no change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Required error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503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guardrail_unavailable</a:t>
                      </a:r>
                      <a:endParaRPr lang="en-IN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8" name="Shape 4"/>
          <p:cNvSpPr/>
          <p:nvPr/>
        </p:nvSpPr>
        <p:spPr>
          <a:xfrm>
            <a:off x="548640" y="4023360"/>
            <a:ext cx="1110960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5"/>
          <p:cNvSpPr/>
          <p:nvPr/>
        </p:nvSpPr>
        <p:spPr>
          <a:xfrm>
            <a:off x="777240" y="418788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6"/>
          <p:cNvSpPr/>
          <p:nvPr/>
        </p:nvSpPr>
        <p:spPr>
          <a:xfrm>
            <a:off x="923400" y="418788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Streaming guardrails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7"/>
          <p:cNvSpPr/>
          <p:nvPr/>
        </p:nvSpPr>
        <p:spPr>
          <a:xfrm>
            <a:off x="777240" y="45903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streaming.Buffer wraps one guardrail for SSE responses — it accumulates chunks, evaluates the guardrail against accumulated content, and blocks mid-stream when a policy fires.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8"/>
          <p:cNvSpPr/>
          <p:nvPr/>
        </p:nvSpPr>
        <p:spPr>
          <a:xfrm>
            <a:off x="777240" y="51206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Buffer.Write(chunk) → evaluate · Flush() · IsBlocked() · Findings() · ExtractSSEChunk / ExtractDeltaContent helpers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9"/>
          <p:cNvSpPr/>
          <p:nvPr/>
        </p:nvSpPr>
        <p:spPr>
          <a:xfrm>
            <a:off x="777240" y="55778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Note: main.go currently registers all guardrails as optional (Required unset) — each runs only when enabled via GUARDRAIL_* env vars, and errors fail-open. The fail-closed (Required:true) path is implemented and ready.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0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1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Guardrails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2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20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 0"/>
          <p:cNvSpPr/>
          <p:nvPr/>
        </p:nvSpPr>
        <p:spPr>
          <a:xfrm>
            <a:off x="7863840" y="91440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0" b="1" u="none" strike="noStrike">
                <a:solidFill>
                  <a:srgbClr val="1A2338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IN" sz="1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"/>
          <p:cNvSpPr/>
          <p:nvPr/>
        </p:nvSpPr>
        <p:spPr>
          <a:xfrm>
            <a:off x="749880" y="2788920"/>
            <a:ext cx="123408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"/>
          <p:cNvSpPr/>
          <p:nvPr/>
        </p:nvSpPr>
        <p:spPr>
          <a:xfrm>
            <a:off x="749880" y="30632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SECTION 05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3"/>
          <p:cNvSpPr/>
          <p:nvPr/>
        </p:nvSpPr>
        <p:spPr>
          <a:xfrm>
            <a:off x="749880" y="345636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ClickHouse Observability</a:t>
            </a:r>
            <a:endParaRPr lang="en-IN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4"/>
          <p:cNvSpPr/>
          <p:nvPr/>
        </p:nvSpPr>
        <p:spPr>
          <a:xfrm>
            <a:off x="749880" y="47091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Optional, fail-open telemetry — traces, prompts, responses, usage, and guardrail events with compression, sampling, and cost estimation.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ARCHITECTURE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Vendor-neutral observability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handler emits events through an abstract Store interface; only the adapter knows about ClickHouse.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4"/>
          <p:cNvSpPr/>
          <p:nvPr/>
        </p:nvSpPr>
        <p:spPr>
          <a:xfrm>
            <a:off x="548640" y="157284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5"/>
          <p:cNvSpPr/>
          <p:nvPr/>
        </p:nvSpPr>
        <p:spPr>
          <a:xfrm>
            <a:off x="694800" y="1618560"/>
            <a:ext cx="610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 Handler (/chat)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6"/>
          <p:cNvSpPr/>
          <p:nvPr/>
        </p:nvSpPr>
        <p:spPr>
          <a:xfrm>
            <a:off x="694800" y="1956960"/>
            <a:ext cx="6107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CapturePromptPayload / CaptureResponsePayload / RecordTrace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7"/>
          <p:cNvSpPr/>
          <p:nvPr/>
        </p:nvSpPr>
        <p:spPr>
          <a:xfrm>
            <a:off x="3749040" y="2286000"/>
            <a:ext cx="360" cy="63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8"/>
          <p:cNvSpPr/>
          <p:nvPr/>
        </p:nvSpPr>
        <p:spPr>
          <a:xfrm>
            <a:off x="548640" y="235008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182845"/>
          </a:solidFill>
          <a:ln w="12700">
            <a:solidFill>
              <a:srgbClr val="1828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9"/>
          <p:cNvSpPr/>
          <p:nvPr/>
        </p:nvSpPr>
        <p:spPr>
          <a:xfrm>
            <a:off x="694800" y="2395800"/>
            <a:ext cx="610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interface (abstract)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0"/>
          <p:cNvSpPr/>
          <p:nvPr/>
        </p:nvSpPr>
        <p:spPr>
          <a:xfrm>
            <a:off x="694800" y="2734200"/>
            <a:ext cx="6107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StoreTrace · StorePrompt · StoreResponse · StoreUsage · StoreGuardrail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1"/>
          <p:cNvSpPr/>
          <p:nvPr/>
        </p:nvSpPr>
        <p:spPr>
          <a:xfrm>
            <a:off x="3749040" y="3063240"/>
            <a:ext cx="360" cy="63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12"/>
          <p:cNvSpPr/>
          <p:nvPr/>
        </p:nvSpPr>
        <p:spPr>
          <a:xfrm>
            <a:off x="548640" y="312732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3"/>
          <p:cNvSpPr/>
          <p:nvPr/>
        </p:nvSpPr>
        <p:spPr>
          <a:xfrm>
            <a:off x="694800" y="3173040"/>
            <a:ext cx="610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ClickHouseAdapter (concrete)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4"/>
          <p:cNvSpPr/>
          <p:nvPr/>
        </p:nvSpPr>
        <p:spPr>
          <a:xfrm>
            <a:off x="694800" y="3511440"/>
            <a:ext cx="6107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gzip + hashing + typed event mapping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5"/>
          <p:cNvSpPr/>
          <p:nvPr/>
        </p:nvSpPr>
        <p:spPr>
          <a:xfrm>
            <a:off x="3749040" y="3840480"/>
            <a:ext cx="360" cy="63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6"/>
          <p:cNvSpPr/>
          <p:nvPr/>
        </p:nvSpPr>
        <p:spPr>
          <a:xfrm>
            <a:off x="548640" y="390456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4F46E5"/>
          </a:solidFill>
          <a:ln w="12700">
            <a:solidFill>
              <a:srgbClr val="4F4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7"/>
          <p:cNvSpPr/>
          <p:nvPr/>
        </p:nvSpPr>
        <p:spPr>
          <a:xfrm>
            <a:off x="694800" y="3950280"/>
            <a:ext cx="610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internal/clickhouse.Client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18"/>
          <p:cNvSpPr/>
          <p:nvPr/>
        </p:nvSpPr>
        <p:spPr>
          <a:xfrm>
            <a:off x="694800" y="4288680"/>
            <a:ext cx="6107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native protocol (port 9000), singleton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9"/>
          <p:cNvSpPr/>
          <p:nvPr/>
        </p:nvSpPr>
        <p:spPr>
          <a:xfrm>
            <a:off x="3749040" y="4617720"/>
            <a:ext cx="360" cy="63720"/>
          </a:xfrm>
          <a:prstGeom prst="line">
            <a:avLst/>
          </a:prstGeom>
          <a:ln w="15240">
            <a:solidFill>
              <a:srgbClr val="98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20"/>
          <p:cNvSpPr/>
          <p:nvPr/>
        </p:nvSpPr>
        <p:spPr>
          <a:xfrm>
            <a:off x="548640" y="4681800"/>
            <a:ext cx="6400440" cy="712800"/>
          </a:xfrm>
          <a:prstGeom prst="roundRect">
            <a:avLst>
              <a:gd name="adj" fmla="val 6410"/>
            </a:avLst>
          </a:prstGeom>
          <a:solidFill>
            <a:srgbClr val="0E9F8E"/>
          </a:solidFill>
          <a:ln w="12700">
            <a:solidFill>
              <a:srgbClr val="0E9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1"/>
          <p:cNvSpPr/>
          <p:nvPr/>
        </p:nvSpPr>
        <p:spPr>
          <a:xfrm>
            <a:off x="694800" y="4727520"/>
            <a:ext cx="6107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C1220"/>
                </a:solidFill>
                <a:effectLst/>
                <a:uFillTx/>
                <a:latin typeface="Calibri"/>
                <a:ea typeface="Calibri"/>
              </a:rPr>
              <a:t>ClickHouse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2"/>
          <p:cNvSpPr/>
          <p:nvPr/>
        </p:nvSpPr>
        <p:spPr>
          <a:xfrm>
            <a:off x="694800" y="5065920"/>
            <a:ext cx="6107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E5E56"/>
                </a:solidFill>
                <a:effectLst/>
                <a:uFillTx/>
                <a:latin typeface="Consolas"/>
                <a:ea typeface="Consolas"/>
              </a:rPr>
              <a:t>agentplane DB · MergeTree tables + TTL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3"/>
          <p:cNvSpPr/>
          <p:nvPr/>
        </p:nvSpPr>
        <p:spPr>
          <a:xfrm>
            <a:off x="7315200" y="1572840"/>
            <a:ext cx="434304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4"/>
          <p:cNvSpPr/>
          <p:nvPr/>
        </p:nvSpPr>
        <p:spPr>
          <a:xfrm>
            <a:off x="7498080" y="17373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5"/>
          <p:cNvSpPr/>
          <p:nvPr/>
        </p:nvSpPr>
        <p:spPr>
          <a:xfrm>
            <a:off x="7644240" y="173736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Optional by design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6"/>
          <p:cNvSpPr/>
          <p:nvPr/>
        </p:nvSpPr>
        <p:spPr>
          <a:xfrm>
            <a:off x="7498080" y="2139840"/>
            <a:ext cx="3977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Enabled only when CLICKHOUSE_HOST is set. Without it, the gateway runs normally with a no-op store. A ClickHouse outage must never fail a /chat request.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27"/>
          <p:cNvSpPr/>
          <p:nvPr/>
        </p:nvSpPr>
        <p:spPr>
          <a:xfrm>
            <a:off x="7315200" y="3886200"/>
            <a:ext cx="434304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28"/>
          <p:cNvSpPr/>
          <p:nvPr/>
        </p:nvSpPr>
        <p:spPr>
          <a:xfrm>
            <a:off x="7498080" y="40507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29"/>
          <p:cNvSpPr/>
          <p:nvPr/>
        </p:nvSpPr>
        <p:spPr>
          <a:xfrm>
            <a:off x="7644240" y="4050720"/>
            <a:ext cx="3794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Two interfaces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30"/>
          <p:cNvSpPr/>
          <p:nvPr/>
        </p:nvSpPr>
        <p:spPr>
          <a:xfrm>
            <a:off x="7498080" y="443484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Native (9000)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1"/>
          <p:cNvSpPr/>
          <p:nvPr/>
        </p:nvSpPr>
        <p:spPr>
          <a:xfrm>
            <a:off x="7498080" y="469080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typed inserts for traces, prompts, responses, usage.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2"/>
          <p:cNvSpPr/>
          <p:nvPr/>
        </p:nvSpPr>
        <p:spPr>
          <a:xfrm>
            <a:off x="7498080" y="523044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HTTP (8123)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33"/>
          <p:cNvSpPr/>
          <p:nvPr/>
        </p:nvSpPr>
        <p:spPr>
          <a:xfrm>
            <a:off x="7498080" y="548640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analytics endpoints forward queries as SQL over HTTP.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3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3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SCHEMA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Six MergeTree tables + TTL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All tables live in the agentplane database; retention is enforced by ClickHouse TTL directives.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3" name="Table 0"/>
          <p:cNvGraphicFramePr/>
          <p:nvPr/>
        </p:nvGraphicFramePr>
        <p:xfrm>
          <a:off x="548640" y="1600200"/>
          <a:ext cx="8503560" cy="1752840"/>
        </p:xfrm>
        <a:graphic>
          <a:graphicData uri="http://schemas.openxmlformats.org/drawingml/2006/table">
            <a:tbl>
              <a:tblPr/>
              <a:tblGrid>
                <a:gridCol w="2286000"/>
                <a:gridCol w="5303520"/>
                <a:gridCol w="91440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Table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Contents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TTL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traces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request metadata (provider, model, latency, status, tokens, cost, guardrail_action)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365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prompt_events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compressed prompt blob + hash + plaintext for search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30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response_events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compressed response blob + hash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30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usage_events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normalized token counts (incl. reasoning / cached)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365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guardrail_events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policy outcomes (name, phase, action, reason)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60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tool_call_events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tool invocations (schema ready, not yet instrumented)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30 d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74" name="Shape 4"/>
          <p:cNvSpPr/>
          <p:nvPr/>
        </p:nvSpPr>
        <p:spPr>
          <a:xfrm>
            <a:off x="9235440" y="1600200"/>
            <a:ext cx="2422800" cy="2011320"/>
          </a:xfrm>
          <a:prstGeom prst="rect">
            <a:avLst/>
          </a:prstGeom>
          <a:solidFill>
            <a:srgbClr val="D8F5F1"/>
          </a:solidFill>
          <a:ln w="12700">
            <a:solidFill>
              <a:srgbClr val="D8F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5"/>
          <p:cNvSpPr/>
          <p:nvPr/>
        </p:nvSpPr>
        <p:spPr>
          <a:xfrm>
            <a:off x="9399960" y="178308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6"/>
          <p:cNvSpPr/>
          <p:nvPr/>
        </p:nvSpPr>
        <p:spPr>
          <a:xfrm>
            <a:off x="9546480" y="1783080"/>
            <a:ext cx="1910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Storage shape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7"/>
          <p:cNvSpPr/>
          <p:nvPr/>
        </p:nvSpPr>
        <p:spPr>
          <a:xfrm>
            <a:off x="9399960" y="2194560"/>
            <a:ext cx="2093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Small metadata lives long; large payloads expire fast. Payload columns use the ZSTD codec on top of app-side gzip.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8"/>
          <p:cNvSpPr/>
          <p:nvPr/>
        </p:nvSpPr>
        <p:spPr>
          <a:xfrm>
            <a:off x="548640" y="3977640"/>
            <a:ext cx="1110960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9"/>
          <p:cNvSpPr/>
          <p:nvPr/>
        </p:nvSpPr>
        <p:spPr>
          <a:xfrm>
            <a:off x="777240" y="41605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0"/>
          <p:cNvSpPr/>
          <p:nvPr/>
        </p:nvSpPr>
        <p:spPr>
          <a:xfrm>
            <a:off x="923400" y="416052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Schema details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1"/>
          <p:cNvSpPr/>
          <p:nvPr/>
        </p:nvSpPr>
        <p:spPr>
          <a:xfrm>
            <a:off x="777240" y="457200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traces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2"/>
          <p:cNvSpPr/>
          <p:nvPr/>
        </p:nvSpPr>
        <p:spPr>
          <a:xfrm>
            <a:off x="2103120" y="4572000"/>
            <a:ext cx="9326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trace_id · request_id · timestamp · user_id · username · organization_id · project_id · provider · model · latency_ms · status · cache_hit · input/output/total_tokens · estimated_cost · guardrail_action · route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13"/>
          <p:cNvSpPr/>
          <p:nvPr/>
        </p:nvSpPr>
        <p:spPr>
          <a:xfrm>
            <a:off x="777240" y="52578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prompt_events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4"/>
          <p:cNvSpPr/>
          <p:nvPr/>
        </p:nvSpPr>
        <p:spPr>
          <a:xfrm>
            <a:off x="2103120" y="5257800"/>
            <a:ext cx="9326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trace_id · prompt_blob (ZSTD) · prompt_text · prompt_hash · prompt_bytes · compressed_size · capture_mode · created_at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5"/>
          <p:cNvSpPr/>
          <p:nvPr/>
        </p:nvSpPr>
        <p:spPr>
          <a:xfrm>
            <a:off x="777240" y="58064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indexes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6"/>
          <p:cNvSpPr/>
          <p:nvPr/>
        </p:nvSpPr>
        <p:spPr>
          <a:xfrm>
            <a:off x="2103120" y="5806440"/>
            <a:ext cx="93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bloom_filter indexes on org / user / model / trace_id for fast lookups · idempotent ADD COLUMN / ADD INDEX migrations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17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8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9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CAPTURE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Capture modes, compression, hashing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Control how much payload data is retained — from full text down to a bare hash.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4"/>
          <p:cNvSpPr/>
          <p:nvPr/>
        </p:nvSpPr>
        <p:spPr>
          <a:xfrm>
            <a:off x="548640" y="1600200"/>
            <a:ext cx="60346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5"/>
          <p:cNvSpPr/>
          <p:nvPr/>
        </p:nvSpPr>
        <p:spPr>
          <a:xfrm>
            <a:off x="777240" y="18198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803D"/>
                </a:solidFill>
                <a:effectLst/>
                <a:uFillTx/>
                <a:latin typeface="Consolas"/>
                <a:ea typeface="Consolas"/>
              </a:rPr>
              <a:t>full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6"/>
          <p:cNvSpPr/>
          <p:nvPr/>
        </p:nvSpPr>
        <p:spPr>
          <a:xfrm>
            <a:off x="2194560" y="181980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Store the compressed payload plus its hash (default).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7"/>
          <p:cNvSpPr/>
          <p:nvPr/>
        </p:nvSpPr>
        <p:spPr>
          <a:xfrm>
            <a:off x="548640" y="2514600"/>
            <a:ext cx="60346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8"/>
          <p:cNvSpPr/>
          <p:nvPr/>
        </p:nvSpPr>
        <p:spPr>
          <a:xfrm>
            <a:off x="777240" y="27342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sampled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9"/>
          <p:cNvSpPr/>
          <p:nvPr/>
        </p:nvSpPr>
        <p:spPr>
          <a:xfrm>
            <a:off x="2194560" y="273420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Deterministically capture a fraction via OBSERVE_SAMPLE_RATE.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0"/>
          <p:cNvSpPr/>
          <p:nvPr/>
        </p:nvSpPr>
        <p:spPr>
          <a:xfrm>
            <a:off x="548640" y="3429000"/>
            <a:ext cx="60346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11"/>
          <p:cNvSpPr/>
          <p:nvPr/>
        </p:nvSpPr>
        <p:spPr>
          <a:xfrm>
            <a:off x="777240" y="36486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45309"/>
                </a:solidFill>
                <a:effectLst/>
                <a:uFillTx/>
                <a:latin typeface="Consolas"/>
                <a:ea typeface="Consolas"/>
              </a:rPr>
              <a:t>hash_only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12"/>
          <p:cNvSpPr/>
          <p:nvPr/>
        </p:nvSpPr>
        <p:spPr>
          <a:xfrm>
            <a:off x="2194560" y="364860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Store only SHA-256 of the payload — no body content.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13"/>
          <p:cNvSpPr/>
          <p:nvPr/>
        </p:nvSpPr>
        <p:spPr>
          <a:xfrm>
            <a:off x="548640" y="4343400"/>
            <a:ext cx="6034680" cy="84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4"/>
          <p:cNvSpPr/>
          <p:nvPr/>
        </p:nvSpPr>
        <p:spPr>
          <a:xfrm>
            <a:off x="777240" y="45630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disabled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5"/>
          <p:cNvSpPr/>
          <p:nvPr/>
        </p:nvSpPr>
        <p:spPr>
          <a:xfrm>
            <a:off x="2194560" y="456300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Skip payload capture entirely (trace metadata still recorded).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6"/>
          <p:cNvSpPr/>
          <p:nvPr/>
        </p:nvSpPr>
        <p:spPr>
          <a:xfrm>
            <a:off x="6858000" y="1600200"/>
            <a:ext cx="480024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7"/>
          <p:cNvSpPr/>
          <p:nvPr/>
        </p:nvSpPr>
        <p:spPr>
          <a:xfrm>
            <a:off x="7040880" y="176472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8"/>
          <p:cNvSpPr/>
          <p:nvPr/>
        </p:nvSpPr>
        <p:spPr>
          <a:xfrm>
            <a:off x="7187040" y="176472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Compression pipeline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9"/>
          <p:cNvSpPr/>
          <p:nvPr/>
        </p:nvSpPr>
        <p:spPr>
          <a:xfrm>
            <a:off x="7040880" y="2194560"/>
            <a:ext cx="4434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Payload → gzip (application side)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gzip bytes → ClickHouse ZSTD codec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prompt_bytes (original) + compressed_size both stored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Sampling is deterministic — hash-seeded, stable per payload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20"/>
          <p:cNvSpPr/>
          <p:nvPr/>
        </p:nvSpPr>
        <p:spPr>
          <a:xfrm>
            <a:off x="6858000" y="3977640"/>
            <a:ext cx="480024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21"/>
          <p:cNvSpPr/>
          <p:nvPr/>
        </p:nvSpPr>
        <p:spPr>
          <a:xfrm>
            <a:off x="7040880" y="414216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22"/>
          <p:cNvSpPr/>
          <p:nvPr/>
        </p:nvSpPr>
        <p:spPr>
          <a:xfrm>
            <a:off x="7187040" y="414216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Configuration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23"/>
          <p:cNvSpPr/>
          <p:nvPr/>
        </p:nvSpPr>
        <p:spPr>
          <a:xfrm>
            <a:off x="7040880" y="4553640"/>
            <a:ext cx="4434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OBSERVE_PROMPT_MODE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 full|sampled|hash_only|disabled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OBSERVE_RESPONSE_MODE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(same)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950" b="1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OBSERVE_SAMPLE_RATE</a:t>
            </a:r>
            <a:r>
              <a:rPr lang="en-US" sz="95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  0.0–1.0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2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COST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Token usage &amp; cost estimation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Normalized usage and estimated spend per request — analytics, never billing.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4"/>
          <p:cNvSpPr/>
          <p:nvPr/>
        </p:nvSpPr>
        <p:spPr>
          <a:xfrm>
            <a:off x="548640" y="1600200"/>
            <a:ext cx="6034680" cy="219420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5"/>
          <p:cNvSpPr/>
          <p:nvPr/>
        </p:nvSpPr>
        <p:spPr>
          <a:xfrm>
            <a:off x="822960" y="192024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cost =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6"/>
          <p:cNvSpPr/>
          <p:nvPr/>
        </p:nvSpPr>
        <p:spPr>
          <a:xfrm>
            <a:off x="1920240" y="193860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(in / 1000) × input$  +  (out / 1000) × output$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7"/>
          <p:cNvSpPr/>
          <p:nvPr/>
        </p:nvSpPr>
        <p:spPr>
          <a:xfrm>
            <a:off x="822960" y="274320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Estimated cost is NOT billing data — use it for dashboards; real charges come from provider invoices.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25" name="Table 0"/>
          <p:cNvGraphicFramePr/>
          <p:nvPr/>
        </p:nvGraphicFramePr>
        <p:xfrm>
          <a:off x="548640" y="4023360"/>
          <a:ext cx="6034680" cy="16002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55448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Model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Input $/1k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Output $/1k</a:t>
                      </a:r>
                      <a:endParaRPr lang="en-IN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gpt-4o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0.006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gpt-4-turbo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0.01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gpt-4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0.06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gpt-3.5-turbo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0.0005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0.0015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text-embedding-3-small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0.00002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0.00002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text-embedding-3-large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0.00013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0.00013</a:t>
                      </a:r>
                      <a:endParaRPr lang="en-IN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26" name="Shape 8"/>
          <p:cNvSpPr/>
          <p:nvPr/>
        </p:nvSpPr>
        <p:spPr>
          <a:xfrm>
            <a:off x="6858000" y="1600200"/>
            <a:ext cx="480024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9"/>
          <p:cNvSpPr/>
          <p:nvPr/>
        </p:nvSpPr>
        <p:spPr>
          <a:xfrm>
            <a:off x="7040880" y="1764720"/>
            <a:ext cx="63720" cy="328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0"/>
          <p:cNvSpPr/>
          <p:nvPr/>
        </p:nvSpPr>
        <p:spPr>
          <a:xfrm>
            <a:off x="7187040" y="176472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Token normalization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1"/>
          <p:cNvSpPr/>
          <p:nvPr/>
        </p:nvSpPr>
        <p:spPr>
          <a:xfrm>
            <a:off x="7040880" y="2176200"/>
            <a:ext cx="4434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OpenAI-style usage objects are normalized (prompt/completion/total), including reasoning_tokens and cached_input_tokens when present. Unsupported providers default to 0.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2"/>
          <p:cNvSpPr/>
          <p:nvPr/>
        </p:nvSpPr>
        <p:spPr>
          <a:xfrm>
            <a:off x="6858000" y="4023360"/>
            <a:ext cx="4800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3"/>
          <p:cNvSpPr/>
          <p:nvPr/>
        </p:nvSpPr>
        <p:spPr>
          <a:xfrm>
            <a:off x="7040880" y="418788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4"/>
          <p:cNvSpPr/>
          <p:nvPr/>
        </p:nvSpPr>
        <p:spPr>
          <a:xfrm>
            <a:off x="7187040" y="4187880"/>
            <a:ext cx="425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Pricing configuration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5"/>
          <p:cNvSpPr/>
          <p:nvPr/>
        </p:nvSpPr>
        <p:spPr>
          <a:xfrm>
            <a:off x="7040880" y="4590360"/>
            <a:ext cx="4434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PRICING_OPENAI_GPT4O=0.003:0.006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config.SetDefaultPricing(table)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182235"/>
                </a:solidFill>
                <a:effectLst/>
                <a:uFillTx/>
                <a:latin typeface="Consolas"/>
                <a:ea typeface="Consolas"/>
              </a:rPr>
              <a:t>config.GetPricing("openai","gpt-4o")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6"/>
          <p:cNvSpPr/>
          <p:nvPr/>
        </p:nvSpPr>
        <p:spPr>
          <a:xfrm>
            <a:off x="7040880" y="57150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 pricing entry → cost 0.0, logged.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7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18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19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24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ANALYTICS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Analytics queries &amp; endpoints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Reusable SQL builders power admin-gated analytics — including per-user spend and prompt search.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4"/>
          <p:cNvSpPr/>
          <p:nvPr/>
        </p:nvSpPr>
        <p:spPr>
          <a:xfrm>
            <a:off x="548640" y="16002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5"/>
          <p:cNvSpPr/>
          <p:nvPr/>
        </p:nvSpPr>
        <p:spPr>
          <a:xfrm>
            <a:off x="676800" y="16002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TraceCountQuery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6"/>
          <p:cNvSpPr/>
          <p:nvPr/>
        </p:nvSpPr>
        <p:spPr>
          <a:xfrm>
            <a:off x="4275000" y="16002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7"/>
          <p:cNvSpPr/>
          <p:nvPr/>
        </p:nvSpPr>
        <p:spPr>
          <a:xfrm>
            <a:off x="4402800" y="16002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AverageLatencyQuery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8"/>
          <p:cNvSpPr/>
          <p:nvPr/>
        </p:nvSpPr>
        <p:spPr>
          <a:xfrm>
            <a:off x="8001000" y="16002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9"/>
          <p:cNvSpPr/>
          <p:nvPr/>
        </p:nvSpPr>
        <p:spPr>
          <a:xfrm>
            <a:off x="8129160" y="16002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FailedRequestsQuery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0"/>
          <p:cNvSpPr/>
          <p:nvPr/>
        </p:nvSpPr>
        <p:spPr>
          <a:xfrm>
            <a:off x="548640" y="213048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1"/>
          <p:cNvSpPr/>
          <p:nvPr/>
        </p:nvSpPr>
        <p:spPr>
          <a:xfrm>
            <a:off x="676800" y="213048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TokenUsageQ</a:t>
            </a: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2"/>
          <p:cNvSpPr/>
          <p:nvPr/>
        </p:nvSpPr>
        <p:spPr>
          <a:xfrm>
            <a:off x="4275000" y="213048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3"/>
          <p:cNvSpPr/>
          <p:nvPr/>
        </p:nvSpPr>
        <p:spPr>
          <a:xfrm>
            <a:off x="4402800" y="213048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EstimatedCostQuery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4"/>
          <p:cNvSpPr/>
          <p:nvPr/>
        </p:nvSpPr>
        <p:spPr>
          <a:xfrm>
            <a:off x="8001000" y="213048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5"/>
          <p:cNvSpPr/>
          <p:nvPr/>
        </p:nvSpPr>
        <p:spPr>
          <a:xfrm>
            <a:off x="8129160" y="213048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TopModelsQu</a:t>
            </a: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6"/>
          <p:cNvSpPr/>
          <p:nvPr/>
        </p:nvSpPr>
        <p:spPr>
          <a:xfrm>
            <a:off x="548640" y="266076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7"/>
          <p:cNvSpPr/>
          <p:nvPr/>
        </p:nvSpPr>
        <p:spPr>
          <a:xfrm>
            <a:off x="676800" y="266076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ProviderUsageQuery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8"/>
          <p:cNvSpPr/>
          <p:nvPr/>
        </p:nvSpPr>
        <p:spPr>
          <a:xfrm>
            <a:off x="4275000" y="266076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9"/>
          <p:cNvSpPr/>
          <p:nvPr/>
        </p:nvSpPr>
        <p:spPr>
          <a:xfrm>
            <a:off x="4402800" y="266076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GuardrailEventsQuery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0"/>
          <p:cNvSpPr/>
          <p:nvPr/>
        </p:nvSpPr>
        <p:spPr>
          <a:xfrm>
            <a:off x="8001000" y="266076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1"/>
          <p:cNvSpPr/>
          <p:nvPr/>
        </p:nvSpPr>
        <p:spPr>
          <a:xfrm>
            <a:off x="8129160" y="266076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ToolCallSta</a:t>
            </a: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tsQuery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22"/>
          <p:cNvSpPr/>
          <p:nvPr/>
        </p:nvSpPr>
        <p:spPr>
          <a:xfrm>
            <a:off x="548640" y="31914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3"/>
          <p:cNvSpPr/>
          <p:nvPr/>
        </p:nvSpPr>
        <p:spPr>
          <a:xfrm>
            <a:off x="676800" y="31914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ErrorRateQuery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24"/>
          <p:cNvSpPr/>
          <p:nvPr/>
        </p:nvSpPr>
        <p:spPr>
          <a:xfrm>
            <a:off x="4275000" y="31914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5"/>
          <p:cNvSpPr/>
          <p:nvPr/>
        </p:nvSpPr>
        <p:spPr>
          <a:xfrm>
            <a:off x="4402800" y="31914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UserUsageQuery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26"/>
          <p:cNvSpPr/>
          <p:nvPr/>
        </p:nvSpPr>
        <p:spPr>
          <a:xfrm>
            <a:off x="8001000" y="3191400"/>
            <a:ext cx="36572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7"/>
          <p:cNvSpPr/>
          <p:nvPr/>
        </p:nvSpPr>
        <p:spPr>
          <a:xfrm>
            <a:off x="8129160" y="3191400"/>
            <a:ext cx="340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PromptSearchQuery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8"/>
          <p:cNvSpPr/>
          <p:nvPr/>
        </p:nvSpPr>
        <p:spPr>
          <a:xfrm>
            <a:off x="548640" y="4069080"/>
            <a:ext cx="11109600" cy="201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29"/>
          <p:cNvSpPr/>
          <p:nvPr/>
        </p:nvSpPr>
        <p:spPr>
          <a:xfrm>
            <a:off x="777240" y="425196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30"/>
          <p:cNvSpPr/>
          <p:nvPr/>
        </p:nvSpPr>
        <p:spPr>
          <a:xfrm>
            <a:off x="923400" y="425196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Admin-gated endpoints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31"/>
          <p:cNvSpPr/>
          <p:nvPr/>
        </p:nvSpPr>
        <p:spPr>
          <a:xfrm>
            <a:off x="777240" y="4663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GET /admin/analytics?type=traces_count|latency|token_usage|cost|top_models|provider_usage|guardrail_events|error_rate|tool_calls&amp;hours=24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32"/>
          <p:cNvSpPr/>
          <p:nvPr/>
        </p:nvSpPr>
        <p:spPr>
          <a:xfrm>
            <a:off x="777240" y="50749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E9F8E"/>
                </a:solidFill>
                <a:effectLst/>
                <a:uFillTx/>
                <a:latin typeface="Consolas"/>
                <a:ea typeface="Consolas"/>
              </a:rPr>
              <a:t>GET /admin/analytics/users?hours=24&amp;user=alice&amp;q=&lt;substring&gt;  →  per-user spend + searchable prompt log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33"/>
          <p:cNvSpPr/>
          <p:nvPr/>
        </p:nvSpPr>
        <p:spPr>
          <a:xfrm>
            <a:off x="777240" y="55321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Queries are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whitelisted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and built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server-side;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only the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integer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hours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window (1–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720) and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search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filters are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user-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supplied.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3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3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3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25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CLICKHOUSE · RESILIENCE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Fire-and-forget, fail-open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Observability is strictly best-effort — a broken ClickHouse can never break a /chat request.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4"/>
          <p:cNvSpPr/>
          <p:nvPr/>
        </p:nvSpPr>
        <p:spPr>
          <a:xfrm>
            <a:off x="548640" y="1600200"/>
            <a:ext cx="54860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5"/>
          <p:cNvSpPr/>
          <p:nvPr/>
        </p:nvSpPr>
        <p:spPr>
          <a:xfrm>
            <a:off x="548640" y="1600200"/>
            <a:ext cx="63720" cy="146268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6"/>
          <p:cNvSpPr/>
          <p:nvPr/>
        </p:nvSpPr>
        <p:spPr>
          <a:xfrm>
            <a:off x="749880" y="17463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Asynchronous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7"/>
          <p:cNvSpPr/>
          <p:nvPr/>
        </p:nvSpPr>
        <p:spPr>
          <a:xfrm>
            <a:off x="749880" y="2148840"/>
            <a:ext cx="508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RecordTrace,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CapturePromptPay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load and friends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run in goroutines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— the request path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never blocks on a </a:t>
            </a: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write.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8"/>
          <p:cNvSpPr/>
          <p:nvPr/>
        </p:nvSpPr>
        <p:spPr>
          <a:xfrm>
            <a:off x="6172200" y="1600200"/>
            <a:ext cx="54860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9"/>
          <p:cNvSpPr/>
          <p:nvPr/>
        </p:nvSpPr>
        <p:spPr>
          <a:xfrm>
            <a:off x="6172200" y="1600200"/>
            <a:ext cx="63720" cy="1462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10"/>
          <p:cNvSpPr/>
          <p:nvPr/>
        </p:nvSpPr>
        <p:spPr>
          <a:xfrm>
            <a:off x="6373440" y="17463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Fail-open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1"/>
          <p:cNvSpPr/>
          <p:nvPr/>
        </p:nvSpPr>
        <p:spPr>
          <a:xfrm>
            <a:off x="6373440" y="2148840"/>
            <a:ext cx="508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Every adapter error is logged, not propagated. A connection-refused on insert becomes a log line, not a 500.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12"/>
          <p:cNvSpPr/>
          <p:nvPr/>
        </p:nvSpPr>
        <p:spPr>
          <a:xfrm>
            <a:off x="548640" y="3282840"/>
            <a:ext cx="54860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13"/>
          <p:cNvSpPr/>
          <p:nvPr/>
        </p:nvSpPr>
        <p:spPr>
          <a:xfrm>
            <a:off x="548640" y="3282840"/>
            <a:ext cx="63720" cy="1462680"/>
          </a:xfrm>
          <a:prstGeom prst="rect">
            <a:avLst/>
          </a:prstGeom>
          <a:solidFill>
            <a:srgbClr val="1580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4"/>
          <p:cNvSpPr/>
          <p:nvPr/>
        </p:nvSpPr>
        <p:spPr>
          <a:xfrm>
            <a:off x="749880" y="3429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Optional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5"/>
          <p:cNvSpPr/>
          <p:nvPr/>
        </p:nvSpPr>
        <p:spPr>
          <a:xfrm>
            <a:off x="749880" y="3831480"/>
            <a:ext cx="508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No CLICKHOUSE_HOST → no-op store → zero overhead. The gateway runs fine without telemetry.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16"/>
          <p:cNvSpPr/>
          <p:nvPr/>
        </p:nvSpPr>
        <p:spPr>
          <a:xfrm>
            <a:off x="6172200" y="3282840"/>
            <a:ext cx="54860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17"/>
          <p:cNvSpPr/>
          <p:nvPr/>
        </p:nvSpPr>
        <p:spPr>
          <a:xfrm>
            <a:off x="6172200" y="3282840"/>
            <a:ext cx="63720" cy="146268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8"/>
          <p:cNvSpPr/>
          <p:nvPr/>
        </p:nvSpPr>
        <p:spPr>
          <a:xfrm>
            <a:off x="6373440" y="3429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Logged, not swallowed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9"/>
          <p:cNvSpPr/>
          <p:nvPr/>
        </p:nvSpPr>
        <p:spPr>
          <a:xfrm>
            <a:off x="6373440" y="3831480"/>
            <a:ext cx="5083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Errors print to stdout/stderr with trace_id so operators can catch observability outages.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20"/>
          <p:cNvSpPr/>
          <p:nvPr/>
        </p:nvSpPr>
        <p:spPr>
          <a:xfrm>
            <a:off x="548640" y="4983480"/>
            <a:ext cx="11109600" cy="1142640"/>
          </a:xfrm>
          <a:prstGeom prst="rect">
            <a:avLst/>
          </a:prstGeom>
          <a:solidFill>
            <a:srgbClr val="0C1220"/>
          </a:solidFill>
          <a:ln w="12700">
            <a:solidFill>
              <a:srgbClr val="0C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21"/>
          <p:cNvSpPr/>
          <p:nvPr/>
        </p:nvSpPr>
        <p:spPr>
          <a:xfrm>
            <a:off x="822960" y="530352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observability: error storing trace (trace_id=req-1234): connection refused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22"/>
          <p:cNvSpPr/>
          <p:nvPr/>
        </p:nvSpPr>
        <p:spPr>
          <a:xfrm>
            <a:off x="822960" y="574236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— a typical log line when ClickHouse is down: the request still succeeds.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23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24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ClickHouse Observability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25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26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CONTROL PLANE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A React control plane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 Vite + React app streams the pipeline live and exposes administration and analytics.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4"/>
          <p:cNvSpPr/>
          <p:nvPr/>
        </p:nvSpPr>
        <p:spPr>
          <a:xfrm>
            <a:off x="548640" y="160020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5"/>
          <p:cNvSpPr/>
          <p:nvPr/>
        </p:nvSpPr>
        <p:spPr>
          <a:xfrm>
            <a:off x="658440" y="160020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6"/>
          <p:cNvSpPr/>
          <p:nvPr/>
        </p:nvSpPr>
        <p:spPr>
          <a:xfrm>
            <a:off x="2784240" y="160020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2894040" y="160020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Pipeline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8"/>
          <p:cNvSpPr/>
          <p:nvPr/>
        </p:nvSpPr>
        <p:spPr>
          <a:xfrm>
            <a:off x="5020200" y="160020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9"/>
          <p:cNvSpPr/>
          <p:nvPr/>
        </p:nvSpPr>
        <p:spPr>
          <a:xfrm>
            <a:off x="5129640" y="160020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Chat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0"/>
          <p:cNvSpPr/>
          <p:nvPr/>
        </p:nvSpPr>
        <p:spPr>
          <a:xfrm>
            <a:off x="7255800" y="160020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1"/>
          <p:cNvSpPr/>
          <p:nvPr/>
        </p:nvSpPr>
        <p:spPr>
          <a:xfrm>
            <a:off x="7365600" y="160020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Guardrails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12"/>
          <p:cNvSpPr/>
          <p:nvPr/>
        </p:nvSpPr>
        <p:spPr>
          <a:xfrm>
            <a:off x="9491400" y="160020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13"/>
          <p:cNvSpPr/>
          <p:nvPr/>
        </p:nvSpPr>
        <p:spPr>
          <a:xfrm>
            <a:off x="9601200" y="160020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Event Log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14"/>
          <p:cNvSpPr/>
          <p:nvPr/>
        </p:nvSpPr>
        <p:spPr>
          <a:xfrm>
            <a:off x="548640" y="225864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5"/>
          <p:cNvSpPr/>
          <p:nvPr/>
        </p:nvSpPr>
        <p:spPr>
          <a:xfrm>
            <a:off x="658440" y="225864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API Keys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16"/>
          <p:cNvSpPr/>
          <p:nvPr/>
        </p:nvSpPr>
        <p:spPr>
          <a:xfrm>
            <a:off x="2784240" y="225864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7"/>
          <p:cNvSpPr/>
          <p:nvPr/>
        </p:nvSpPr>
        <p:spPr>
          <a:xfrm>
            <a:off x="2894040" y="225864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Vault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8"/>
          <p:cNvSpPr/>
          <p:nvPr/>
        </p:nvSpPr>
        <p:spPr>
          <a:xfrm>
            <a:off x="5020200" y="225864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9"/>
          <p:cNvSpPr/>
          <p:nvPr/>
        </p:nvSpPr>
        <p:spPr>
          <a:xfrm>
            <a:off x="5129640" y="225864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Usage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0"/>
          <p:cNvSpPr/>
          <p:nvPr/>
        </p:nvSpPr>
        <p:spPr>
          <a:xfrm>
            <a:off x="7255800" y="225864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21"/>
          <p:cNvSpPr/>
          <p:nvPr/>
        </p:nvSpPr>
        <p:spPr>
          <a:xfrm>
            <a:off x="7365600" y="225864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Observability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22"/>
          <p:cNvSpPr/>
          <p:nvPr/>
        </p:nvSpPr>
        <p:spPr>
          <a:xfrm>
            <a:off x="9491400" y="2258640"/>
            <a:ext cx="21668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23"/>
          <p:cNvSpPr/>
          <p:nvPr/>
        </p:nvSpPr>
        <p:spPr>
          <a:xfrm>
            <a:off x="9601200" y="225864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46E5"/>
                </a:solidFill>
                <a:effectLst/>
                <a:uFillTx/>
                <a:latin typeface="Calibri"/>
                <a:ea typeface="Calibri"/>
              </a:rPr>
              <a:t>User Analytics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24"/>
          <p:cNvSpPr/>
          <p:nvPr/>
        </p:nvSpPr>
        <p:spPr>
          <a:xfrm>
            <a:off x="548640" y="3246120"/>
            <a:ext cx="1110960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25"/>
          <p:cNvSpPr/>
          <p:nvPr/>
        </p:nvSpPr>
        <p:spPr>
          <a:xfrm>
            <a:off x="777240" y="3429000"/>
            <a:ext cx="63720" cy="328680"/>
          </a:xfrm>
          <a:prstGeom prst="rect">
            <a:avLst/>
          </a:prstGeom>
          <a:solidFill>
            <a:srgbClr val="0E9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26"/>
          <p:cNvSpPr/>
          <p:nvPr/>
        </p:nvSpPr>
        <p:spPr>
          <a:xfrm>
            <a:off x="923400" y="3429000"/>
            <a:ext cx="10332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What it </a:t>
            </a:r>
            <a:r>
              <a:rPr lang="en-US" sz="1250" b="1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surfaces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27"/>
          <p:cNvSpPr/>
          <p:nvPr/>
        </p:nvSpPr>
        <p:spPr>
          <a:xfrm>
            <a:off x="777240" y="384048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Live request pipeline over SSE (/events) — see each stage as it happens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Guardrail visualization with before/after body snapshots so redactions are visible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Provision users &amp; keys, list keys, revoke keys, store provider secrets (Vault)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00000"/>
              </a:lnSpc>
              <a:spcAft>
                <a:spcPts val="499"/>
              </a:spcAft>
              <a:buClr>
                <a:srgbClr val="182235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82235"/>
                </a:solidFill>
                <a:effectLst/>
                <a:uFillTx/>
                <a:latin typeface="Calibri"/>
                <a:ea typeface="Calibri"/>
              </a:rPr>
              <a:t>Per-user spend, token usage, and a searchable prompt log backed by ClickHouse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8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9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Control 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30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27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Shape 0"/>
          <p:cNvSpPr/>
          <p:nvPr/>
        </p:nvSpPr>
        <p:spPr>
          <a:xfrm>
            <a:off x="0" y="0"/>
            <a:ext cx="118440" cy="68576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1"/>
          <p:cNvSpPr/>
          <p:nvPr/>
        </p:nvSpPr>
        <p:spPr>
          <a:xfrm>
            <a:off x="548640" y="384120"/>
            <a:ext cx="1115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4F46E5"/>
                </a:solidFill>
                <a:effectLst/>
                <a:uFillTx/>
                <a:latin typeface="Consolas"/>
                <a:ea typeface="Consolas"/>
              </a:rPr>
              <a:t>ROADMAP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"/>
          <p:cNvSpPr/>
          <p:nvPr/>
        </p:nvSpPr>
        <p:spPr>
          <a:xfrm>
            <a:off x="548640" y="640080"/>
            <a:ext cx="11246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82235"/>
                </a:solidFill>
                <a:effectLst/>
                <a:uFillTx/>
                <a:latin typeface="Georgia"/>
                <a:ea typeface="Georgia"/>
              </a:rPr>
              <a:t>What's next</a:t>
            </a:r>
            <a:endParaRPr lang="en-IN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3"/>
          <p:cNvSpPr/>
          <p:nvPr/>
        </p:nvSpPr>
        <p:spPr>
          <a:xfrm>
            <a:off x="548640" y="1225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The pipeline is designed so each future stage slots in without rewiring the gateway.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6" name="Table 0"/>
          <p:cNvGraphicFramePr/>
          <p:nvPr/>
        </p:nvGraphicFramePr>
        <p:xfrm>
          <a:off x="548640" y="1600200"/>
          <a:ext cx="11109600" cy="25938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6812280"/>
              </a:tblGrid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Stage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Status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Notes</a:t>
                      </a:r>
                      <a:endParaRPr lang="en-IN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182845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Authentication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Shipped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API-key bearer auth + admin token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Guardrails (input)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Shipped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33-guardrail enforcement engine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Guardrails (output)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Shipped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output-direction set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API key injection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Shipped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config.OpenAIKey() → proxy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Provider proxy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Shipped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OpenAI-compatible Forward()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Rate limiting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Planned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per-user / per-key quotas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Logging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Planned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request/response audit trail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Agent routing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Planned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route to agent pipelines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Provider selection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Planned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OpenAI vs Anthropic vs Gemini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 SSE streaming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Planned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8223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stream tokens back to client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4E9F2"/>
                      </a:solidFill>
                      <a:prstDash val="solid"/>
                    </a:lnL>
                    <a:lnR w="6480">
                      <a:solidFill>
                        <a:srgbClr val="E4E9F2"/>
                      </a:solidFill>
                      <a:prstDash val="solid"/>
                    </a:lnR>
                    <a:lnT w="6480">
                      <a:solidFill>
                        <a:srgbClr val="E4E9F2"/>
                      </a:solidFill>
                      <a:prstDash val="solid"/>
                    </a:lnT>
                    <a:lnB w="6480">
                      <a:solidFill>
                        <a:srgbClr val="E4E9F2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837" name="Text 4"/>
          <p:cNvSpPr/>
          <p:nvPr/>
        </p:nvSpPr>
        <p:spPr>
          <a:xfrm>
            <a:off x="548640" y="65469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201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AGENTPLANE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5"/>
          <p:cNvSpPr/>
          <p:nvPr/>
        </p:nvSpPr>
        <p:spPr>
          <a:xfrm>
            <a:off x="4114800" y="6546960"/>
            <a:ext cx="667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Roadmap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6"/>
          <p:cNvSpPr/>
          <p:nvPr/>
        </p:nvSpPr>
        <p:spPr>
          <a:xfrm>
            <a:off x="11384280" y="65469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8A3B8"/>
                </a:solidFill>
                <a:effectLst/>
                <a:uFillTx/>
                <a:latin typeface="Consolas"/>
                <a:ea typeface="Consolas"/>
              </a:rPr>
              <a:t>28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Shape 0"/>
          <p:cNvSpPr/>
          <p:nvPr/>
        </p:nvSpPr>
        <p:spPr>
          <a:xfrm>
            <a:off x="0" y="0"/>
            <a:ext cx="12188520" cy="109440"/>
          </a:xfrm>
          <a:prstGeom prst="rect">
            <a:avLst/>
          </a:prstGeom>
          <a:solidFill>
            <a:srgbClr val="4F46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1"/>
          <p:cNvSpPr/>
          <p:nvPr/>
        </p:nvSpPr>
        <p:spPr>
          <a:xfrm>
            <a:off x="0" y="6748200"/>
            <a:ext cx="12188520" cy="1094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2"/>
          <p:cNvSpPr/>
          <p:nvPr/>
        </p:nvSpPr>
        <p:spPr>
          <a:xfrm>
            <a:off x="777240" y="1737360"/>
            <a:ext cx="118836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3"/>
          <p:cNvSpPr/>
          <p:nvPr/>
        </p:nvSpPr>
        <p:spPr>
          <a:xfrm>
            <a:off x="777240" y="19202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2DD4BF"/>
                </a:solidFill>
                <a:effectLst/>
                <a:uFillTx/>
                <a:latin typeface="Consolas"/>
                <a:ea typeface="Consolas"/>
              </a:rPr>
              <a:t>SUMMARY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4"/>
          <p:cNvSpPr/>
          <p:nvPr/>
        </p:nvSpPr>
        <p:spPr>
          <a:xfrm>
            <a:off x="777240" y="237744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One gateway for auth, policy,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and observability across every LLM.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5"/>
          <p:cNvSpPr/>
          <p:nvPr/>
        </p:nvSpPr>
        <p:spPr>
          <a:xfrm>
            <a:off x="777240" y="44348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Secure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6"/>
          <p:cNvSpPr/>
          <p:nvPr/>
        </p:nvSpPr>
        <p:spPr>
          <a:xfrm>
            <a:off x="2468880" y="4434840"/>
            <a:ext cx="8869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Structured API keys, hash-only storage, constant-time compare, fail-open/fail-closed guardrails, Vault-native secrets.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7"/>
          <p:cNvSpPr/>
          <p:nvPr/>
        </p:nvSpPr>
        <p:spPr>
          <a:xfrm>
            <a:off x="777240" y="50382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Extensible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8"/>
          <p:cNvSpPr/>
          <p:nvPr/>
        </p:nvSpPr>
        <p:spPr>
          <a:xfrm>
            <a:off x="2468880" y="5038200"/>
            <a:ext cx="8869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Provider interface, pluggable secret stores, and a 33-guardrail engine — every layer swaps independently.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9"/>
          <p:cNvSpPr/>
          <p:nvPr/>
        </p:nvSpPr>
        <p:spPr>
          <a:xfrm>
            <a:off x="777240" y="56419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D4BF"/>
                </a:solidFill>
                <a:effectLst/>
                <a:uFillTx/>
                <a:latin typeface="Calibri"/>
                <a:ea typeface="Calibri"/>
              </a:rPr>
              <a:t>Observable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0"/>
          <p:cNvSpPr/>
          <p:nvPr/>
        </p:nvSpPr>
        <p:spPr>
          <a:xfrm>
            <a:off x="2468880" y="5641920"/>
            <a:ext cx="8869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8A3B8"/>
                </a:solidFill>
                <a:effectLst/>
                <a:uFillTx/>
                <a:latin typeface="Calibri"/>
                <a:ea typeface="Calibri"/>
              </a:rPr>
              <a:t>SSE event bus plus optional ClickHouse telemetry: traces, prompts, usage, guardrails, cost.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1"/>
          <p:cNvSpPr/>
          <p:nvPr/>
        </p:nvSpPr>
        <p:spPr>
          <a:xfrm>
            <a:off x="777240" y="63093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84"/>
                </a:solidFill>
                <a:effectLst/>
                <a:uFillTx/>
                <a:latin typeface="Consolas"/>
                <a:ea typeface="Consolas"/>
              </a:rPr>
              <a:t>github.com/dexterhere04/AgentPlane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LibreOffice/26.2.5.2$Linux_X86_64 LibreOffice_project/30643f3b95f81f04449dc87ba649cc313a42270e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2026-08-19T05:40:58Z</dcterms:created>
  <dc:creator>AgentPlane</dc:creator>
  <dc:description/>
  <dc:language>en-IN</dc:language>
  <cp:lastModifiedBy/>
  <dcterms:modified xsi:type="dcterms:W3CDTF">2026-08-19T13:11:37Z</dcterms:modified>
  <cp:revision>3</cp:revision>
  <dc:subject>PptxGenJS Presentation</dc:subject>
  <dc:title>AgentPlane — AI Gateway &amp; Control Plane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On-screen Show (16:9)</vt:lpwstr>
  </property>
  <property fmtid="{D5CDD505-2E9C-101B-9397-08002B2CF9AE}" pid="4" name="Slides">
    <vt:i4>35</vt:i4>
  </property>
</Properties>
</file>